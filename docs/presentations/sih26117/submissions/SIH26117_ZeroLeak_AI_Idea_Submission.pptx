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e02644213c4e61" /><Relationship Type="http://schemas.openxmlformats.org/officeDocument/2006/relationships/extended-properties" Target="/docProps/app.xml" Id="Rac382bf093034c9e" /><Relationship Type="http://schemas.openxmlformats.org/officeDocument/2006/relationships/officeDocument" Target="/ppt/presentation.xml" Id="Ref88754936d742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f12e3fe6024e02"/>
  </p:sldMasterIdLst>
  <p:notesMasterIdLst>
    <p:notesMasterId xmlns:r="http://schemas.openxmlformats.org/officeDocument/2006/relationships" r:id="R217bdb31274f4a69"/>
  </p:notesMasterIdLst>
  <p:sldIdLst>
    <p:sldId xmlns:r="http://schemas.openxmlformats.org/officeDocument/2006/relationships" id="256" r:id="R60b9c48b9cfd4184"/>
    <p:sldId xmlns:r="http://schemas.openxmlformats.org/officeDocument/2006/relationships" id="257" r:id="R90d3e2adbde848a8"/>
    <p:sldId xmlns:r="http://schemas.openxmlformats.org/officeDocument/2006/relationships" id="258" r:id="R6afce080736b45f3"/>
    <p:sldId xmlns:r="http://schemas.openxmlformats.org/officeDocument/2006/relationships" id="259" r:id="Rab031cf8d3f14f62"/>
    <p:sldId xmlns:r="http://schemas.openxmlformats.org/officeDocument/2006/relationships" id="260" r:id="R4b75b5cb298946c6"/>
    <p:sldId xmlns:r="http://schemas.openxmlformats.org/officeDocument/2006/relationships" id="261" r:id="Rebaa92b60a3c48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cffee009ae4a56" /><Relationship Type="http://schemas.openxmlformats.org/officeDocument/2006/relationships/slideMaster" Target="/ppt/slideMasters/slideMaster1.xml" Id="R5af12e3fe6024e02" /><Relationship Type="http://schemas.openxmlformats.org/officeDocument/2006/relationships/notesMaster" Target="/ppt/notesMasters/notesMaster1.xml" Id="R217bdb31274f4a69" /><Relationship Type="http://schemas.openxmlformats.org/officeDocument/2006/relationships/presProps" Target="/ppt/presProps.xml" Id="Rde6f65061ab44671" /><Relationship Type="http://schemas.openxmlformats.org/officeDocument/2006/relationships/tableStyles" Target="/ppt/tableStyles.xml" Id="R383d15a6fa374b9d" /><Relationship Type="http://schemas.openxmlformats.org/officeDocument/2006/relationships/slide" Target="/ppt/slides/slide1.xml" Id="R60b9c48b9cfd4184" /><Relationship Type="http://schemas.openxmlformats.org/officeDocument/2006/relationships/slide" Target="/ppt/slides/slide2.xml" Id="R90d3e2adbde848a8" /><Relationship Type="http://schemas.openxmlformats.org/officeDocument/2006/relationships/slide" Target="/ppt/slides/slide3.xml" Id="R6afce080736b45f3" /><Relationship Type="http://schemas.openxmlformats.org/officeDocument/2006/relationships/slide" Target="/ppt/slides/slide4.xml" Id="Rab031cf8d3f14f62" /><Relationship Type="http://schemas.openxmlformats.org/officeDocument/2006/relationships/slide" Target="/ppt/slides/slide5.xml" Id="R4b75b5cb298946c6" /><Relationship Type="http://schemas.openxmlformats.org/officeDocument/2006/relationships/slide" Target="/ppt/slides/slide6.xml" Id="Rebaa92b60a3c48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f0911fd92c40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c46ce7469d4a54" /><Relationship Type="http://schemas.openxmlformats.org/officeDocument/2006/relationships/notesMaster" Target="/ppt/notesMasters/notesMaster1.xml" Id="R66ec8a9b9d0445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c27639c8784572" /><Relationship Type="http://schemas.openxmlformats.org/officeDocument/2006/relationships/notesMaster" Target="/ppt/notesMasters/notesMaster1.xml" Id="Ra2c75655277a4a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1c059e783843a5" /><Relationship Type="http://schemas.openxmlformats.org/officeDocument/2006/relationships/notesMaster" Target="/ppt/notesMasters/notesMaster1.xml" Id="Rb1988b0461ea46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8a365f37ba4e2c" /><Relationship Type="http://schemas.openxmlformats.org/officeDocument/2006/relationships/notesMaster" Target="/ppt/notesMasters/notesMaster1.xml" Id="R1e90c618420441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09021e76bd4ea6" /><Relationship Type="http://schemas.openxmlformats.org/officeDocument/2006/relationships/notesMaster" Target="/ppt/notesMasters/notesMaster1.xml" Id="R5300ca527e364c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f78c704ff24b83" /><Relationship Type="http://schemas.openxmlformats.org/officeDocument/2006/relationships/notesMaster" Target="/ppt/notesMasters/notesMaster1.xml" Id="Ra1707d6f1f9f45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metadata: SIH26117, S.No. 117, title, MRPL, category Software and theme Smart Automation.</a:t>
            </a:r>
          </a:p>
          <a:p xmlns:a="http://schemas.openxmlformats.org/drawingml/2006/main">
            <a:r>
              <a:t>Primary source: https://sih.gov.in/sih2026PS</a:t>
            </a:r>
          </a:p>
          <a:p xmlns:a="http://schemas.openxmlformats.org/drawingml/2006/main">
            <a:r>
              <a:t>Cross-check: https://github.com/jeevansai-hub/SIH-2026-/blob/main/ps_2026/SIH26117.md</a:t>
            </a:r>
          </a:p>
          <a:p xmlns:a="http://schemas.openxmlformats.org/drawingml/2006/main">
            <a:r>
              <a:t>Project source: C:/Users/harih/OneDrive/Documents/ocr/zero-leak-app/README.md</a:t>
            </a:r>
          </a:p>
          <a:p xmlns:a="http://schemas.openxmlformats.org/drawingml/2006/main">
            <a:r>
              <a:t>Replace [TEAM NAME] and [TEAM ID] with portal-registered values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claims are based on the SIH26117 description, which calls for a self-hosted, air-gapped workbench that supports multiple open-weight models, local tools, multimodal inputs and real deliverables.</a:t>
            </a:r>
          </a:p>
          <a:p xmlns:a="http://schemas.openxmlformats.org/drawingml/2006/main">
            <a:r>
              <a:t>Product evidence: C:/Users/harih/OneDrive/Documents/ocr/zero-leak-app/README.md and MRPL_WORKFLOWS.md.</a:t>
            </a:r>
          </a:p>
          <a:p xmlns:a="http://schemas.openxmlformats.org/drawingml/2006/main">
            <a:r>
              <a:t>Visual asset: synthetic inspection note at C:/Users/harih/OneDrive/Documents/ocr/zero-leak-app/examples/mrpl-demo/turbine-cdu4/turbine-reports/scan-inspection-note.png.</a:t>
            </a:r>
          </a:p>
          <a:p xmlns:a="http://schemas.openxmlformats.org/drawingml/2006/main">
            <a:r>
              <a:t>The sample corpus is synthetic and contains no proprietary MRPL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approach reflects the local model registry and router implementation.</a:t>
            </a:r>
          </a:p>
          <a:p xmlns:a="http://schemas.openxmlformats.org/drawingml/2006/main">
            <a:r>
              <a:t>Source: C:/Users/harih/OneDrive/Documents/ocr/zero-leak-app/src/services/registry.ts</a:t>
            </a:r>
          </a:p>
          <a:p xmlns:a="http://schemas.openxmlformats.org/drawingml/2006/main">
            <a:r>
              <a:t>Source: C:/Users/harih/OneDrive/Documents/ocr/zero-leak-app/src-tauri/src/router.rs</a:t>
            </a:r>
          </a:p>
          <a:p xmlns:a="http://schemas.openxmlformats.org/drawingml/2006/main">
            <a:r>
              <a:t>The workbench binds the model router to 127.0.0.1 and routes OCR, vision, embeddings, reasoning and coding to different local model roles.</a:t>
            </a:r>
          </a:p>
          <a:p xmlns:a="http://schemas.openxmlformats.org/drawingml/2006/main">
            <a:r>
              <a:t>Visual asset: synthetic P&amp;ID at C:/Users/harih/OneDrive/Documents/ocr/zero-leak-app/examples/mrpl-demo/turbine-cdu4/turbine-reports/PID-CDU4-1102.png.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Readiness proof points come from the live local Workflows → Readiness screen and the project workflow guide.</a:t>
            </a:r>
          </a:p>
          <a:p xmlns:a="http://schemas.openxmlformats.org/drawingml/2006/main">
            <a:r>
              <a:t>Sources: C:/Users/harih/OneDrive/Documents/ocr/zero-leak-app/MRPL_WORKFLOWS.md and C:/Users/harih/OneDrive/Documents/ocr/zero-leak-app/.uifix/readiness-result.json.</a:t>
            </a:r>
          </a:p>
          <a:p xmlns:a="http://schemas.openxmlformats.org/drawingml/2006/main">
            <a:r>
              <a:t>The GPU number is a development-machine measurement from the local app UI, not a universal deployment requirement.</a:t>
            </a:r>
          </a:p>
          <a:p xmlns:a="http://schemas.openxmlformats.org/drawingml/2006/main">
            <a:r>
              <a:t>The project documentation explicitly says application network decisions are not a packet capture, so the deck preserves the independent OS capture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impact is derived from the SIH26117 expected solution and from the implemented workflow surfaces.</a:t>
            </a:r>
          </a:p>
          <a:p xmlns:a="http://schemas.openxmlformats.org/drawingml/2006/main">
            <a:r>
              <a:t>Product sources: C:/Users/harih/OneDrive/Documents/ocr/zero-leak-app/README.md, MRPL_WORKFLOWS.md and the live Artifacts, Audit and Knowledge panels.</a:t>
            </a:r>
          </a:p>
          <a:p xmlns:a="http://schemas.openxmlformats.org/drawingml/2006/main">
            <a:r>
              <a:t>The counts shown are prototype catalog facts: five named model roles in the registry and seven supported artifact kinds in the local types and artifact implementation.</a:t>
            </a:r>
          </a:p>
          <a:p xmlns:a="http://schemas.openxmlformats.org/drawingml/2006/main">
            <a:r>
              <a:t>Visual asset: synthetic gauge photograph at C:/Users/harih/OneDrive/Documents/ocr/zero-leak-app/examples/mrpl-demo/turbine-cdu4/turbine-reports/gauge-photo.jpg.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Public sources used in the deck:</a:t>
            </a:r>
          </a:p>
          <a:p xmlns:a="http://schemas.openxmlformats.org/drawingml/2006/main">
            <a:r>
              <a:t>1) https://sih.gov.in/sih2026PS</a:t>
            </a:r>
          </a:p>
          <a:p xmlns:a="http://schemas.openxmlformats.org/drawingml/2006/main">
            <a:r>
              <a:t>2) https://github.com/jeevansai-hub/SIH-2026-/blob/main/ps_2026/SIH26117.md</a:t>
            </a:r>
          </a:p>
          <a:p xmlns:a="http://schemas.openxmlformats.org/drawingml/2006/main">
            <a:r>
              <a:t>3) https://www.cmrit.ac.in/wp-content/uploads/2024/10/SIH2024_IDEA_Presentation_Format.pdf</a:t>
            </a:r>
          </a:p>
          <a:p xmlns:a="http://schemas.openxmlformats.org/drawingml/2006/main">
            <a:r>
              <a:t>Local sources used in the deck:</a:t>
            </a:r>
          </a:p>
          <a:p xmlns:a="http://schemas.openxmlformats.org/drawingml/2006/main">
            <a:r>
              <a:t>C:/Users/harih/OneDrive/Documents/ocr/zero-leak-app/README.md</a:t>
            </a:r>
          </a:p>
          <a:p xmlns:a="http://schemas.openxmlformats.org/drawingml/2006/main">
            <a:r>
              <a:t>C:/Users/harih/OneDrive/Documents/ocr/zero-leak-app/MRPL_WORKFLOWS.md</a:t>
            </a:r>
          </a:p>
          <a:p xmlns:a="http://schemas.openxmlformats.org/drawingml/2006/main">
            <a:r>
              <a:t>C:/Users/harih/OneDrive/Documents/ocr/zero-leak-app/src/services/registry.ts</a:t>
            </a:r>
          </a:p>
          <a:p xmlns:a="http://schemas.openxmlformats.org/drawingml/2006/main">
            <a:r>
              <a:t>C:/Users/harih/OneDrive/Documents/ocr/zero-leak-app/examples/mrpl-demo/README.md</a:t>
            </a:r>
          </a:p>
          <a:p xmlns:a="http://schemas.openxmlformats.org/drawingml/2006/main">
            <a:r>
              <a:t>The local demo corpus is synthetic/open-dataset material, not proprietary industrial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98e9a780842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cf81dafcda4798" /><Relationship Type="http://schemas.openxmlformats.org/officeDocument/2006/relationships/slideLayout" Target="/ppt/slideLayouts/slideLayout1.xml" Id="Rd6bc0e752db947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bc0e752db947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41d7226a04d8a" /><Relationship Type="http://schemas.openxmlformats.org/officeDocument/2006/relationships/notesSlide" Target="/ppt/notesSlides/notesSlide1.xml" Id="Raad90e07508847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dcf82447b48e5" /><Relationship Type="http://schemas.openxmlformats.org/officeDocument/2006/relationships/image" Target="/ppt/media/image.png" Id="R39f1b0e474434dd4" /><Relationship Type="http://schemas.openxmlformats.org/officeDocument/2006/relationships/notesSlide" Target="/ppt/notesSlides/notesSlide2.xml" Id="Rd211ff585a1c4c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c8647e1fc4517" /><Relationship Type="http://schemas.openxmlformats.org/officeDocument/2006/relationships/image" Target="/ppt/media/image2.png" Id="R95361ed777e4402a" /><Relationship Type="http://schemas.openxmlformats.org/officeDocument/2006/relationships/notesSlide" Target="/ppt/notesSlides/notesSlide3.xml" Id="Rbec113302c1843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ff6cc541648c1" /><Relationship Type="http://schemas.openxmlformats.org/officeDocument/2006/relationships/notesSlide" Target="/ppt/notesSlides/notesSlide4.xml" Id="Rffe2ff58665449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43b216c554871" /><Relationship Type="http://schemas.openxmlformats.org/officeDocument/2006/relationships/image" Target="/ppt/media/image.jpeg" Id="R937465ae63af43dc" /><Relationship Type="http://schemas.openxmlformats.org/officeDocument/2006/relationships/notesSlide" Target="/ppt/notesSlides/notesSlide5.xml" Id="R13c75007d10440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17b7ee73d46cb" /><Relationship Type="http://schemas.openxmlformats.org/officeDocument/2006/relationships/notesSlide" Target="/ppt/notesSlides/notesSlide6.xml" Id="Rb7be29155ce148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7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78F3B-B997-478E-88E8-CFA3C048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104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36271-E188-404E-A459-586B4498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E3E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E3E7"/>
                </a:solidFill>
                <a:latin typeface="Arial"/>
                <a:ea typeface="Arial"/>
                <a:cs typeface="Arial"/>
              </a:rPr>
              <a:t>SMART INDIA HACKATHON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19302-6FA1-4BE7-8D05-4EAFCEE7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7200"/>
            <a:ext cx="2190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E72CC-3761-462F-B788-50E3F5BC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90700"/>
            <a:ext cx="2286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SOVEREIGN</a:t>
            </a:r>
          </a:p>
          <a:p xmlns:a="http://schemas.openxmlformats.org/drawingml/2006/main">
            <a:pPr algn="r">
              <a:defRPr sz="1350" b="1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ON-PREMISE</a:t>
            </a:r>
          </a:p>
          <a:p xmlns:a="http://schemas.openxmlformats.org/drawingml/2006/main">
            <a:pPr algn="r">
              <a:defRPr sz="1350" b="1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AGENTIC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868D0-7F84-4CE9-9FD3-4EADF519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ZeroLeak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5FF13-C9D1-42AC-B4E4-EB3F9CAC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D0D9DD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D0D9DD"/>
                </a:solidFill>
                <a:latin typeface="Arial"/>
                <a:ea typeface="Arial"/>
                <a:cs typeface="Arial"/>
              </a:rPr>
              <a:t>A local workbench for confidential industrial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76463-7691-4D2D-966B-243FB41E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55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727E4-95C6-4F9B-955E-AF3644CD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814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A3DEC-26C7-4B18-8E82-5B9A88BE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29075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SIH26117  |  Sovereign On-Premise Agentic AI Workbench using Open-Weight Multimodal LLMs for Confidential Industrial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19AE72-A94D-4110-82BF-9B861309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81575"/>
            <a:ext cx="781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9C7C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9C7CE"/>
                </a:solidFill>
                <a:latin typeface="Arial"/>
                <a:ea typeface="Arial"/>
                <a:cs typeface="Arial"/>
              </a:rPr>
              <a:t>Mangalore Refinery and Petrochemicals Limited (MRPL)  •  Smart Automation  •  Software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6EE95E-3955-4E27-81B0-1F51370F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0225"/>
            <a:ext cx="495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Team: [TEAM NAME]   •   Team ID: [TEAM ID]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BF7FE-0D3D-486B-A654-540ABC1D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94A9B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94A9B5"/>
                </a:solidFill>
                <a:latin typeface="Arial"/>
                <a:ea typeface="Arial"/>
                <a:cs typeface="Arial"/>
              </a:rPr>
              <a:t>Idea submission deck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53FB6-D8AB-426C-A945-F4B23B85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9531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94A9B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94A9B5"/>
                </a:solidFill>
                <a:latin typeface="Arial"/>
                <a:ea typeface="Arial"/>
                <a:cs typeface="Arial"/>
              </a:rPr>
              <a:t>Prototype evidence from a local ZeroLeak AI workstation</a:t>
            </a:r>
          </a:p>
        </p:txBody>
      </p:sp>
    </p:spTree>
    <p:extLst>
      <p:ext uri="{BB962C8B-B14F-4D97-AF65-F5344CB8AC3E}">
        <p14:creationId xmlns:p14="http://schemas.microsoft.com/office/powerpoint/2010/main" val="1413743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8FBC2-908F-4E2D-95A8-793F9741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01  /  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184E1-BA94-46FB-ADFD-9BD0C49A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A private agent for work that cannot leave the site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88275-2410-448A-8ACB-CAD893DE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workbench keeps documents local while still acting like a useful task partner.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F8A75-A74E-4F19-82B2-FFC7CC427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58B450-4872-4580-829D-59957630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2882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E9E08-CFB9-4372-A670-CA7ABDA5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812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Self-hosted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6DD76-F015-4E1A-8C6B-EE9634EB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Runs on the organization’s own workstation or GPU server. Public cloud assistants never sit in the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7AE19-B8BA-440F-B87B-E2B25DD5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62275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4EE70-CA10-48F0-9D55-E7E3BB5F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A7870-675F-4FD5-ACF6-30573F67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432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Task-aware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680EA4-2F05-495D-AB9B-FD5DA64A1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Routes coding, long-document, OCR and vision work to the right local model on demand.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86E56-F74D-484E-97B6-5A1839B1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48C4E0-CCBB-469A-98EE-4C9E517D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528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67693-15AB-4BA0-AD4B-537592D2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Actionable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45506-A212-48AF-A274-1516753C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624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Reads files, searches local knowledge, runs sandboxed tools and creates reviewable deliverables.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46273A-1DB3-446E-BF84-84DC1F06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523875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1727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A82C4-3C22-487E-9516-C6DC38A8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285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output is a work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065681-6B4D-4786-A5CE-94C09864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Source citations  +  approval note  +  action tracker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256AA-709B-4286-AC0C-170104A3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4876800" cy="4248150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CEC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1b0e474434dd4"/>
          <a:stretch xmlns:a="http://schemas.openxmlformats.org/drawingml/2006/main"/>
        </p:blipFill>
        <p:spPr>
          <a:xfrm xmlns:a="http://schemas.openxmlformats.org/drawingml/2006/main">
            <a:off x="7870344" y="1952625"/>
            <a:ext cx="2356813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9DFC9-216C-4334-924F-89952A38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476875"/>
            <a:ext cx="4267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B154F9-41CE-4401-BCA8-3707E3EC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43550"/>
            <a:ext cx="396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E8B8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8B84"/>
                </a:solidFill>
                <a:latin typeface="Arial"/>
                <a:ea typeface="Arial"/>
                <a:cs typeface="Arial"/>
              </a:rPr>
              <a:t>IMAGE-ONLY PAGE  •  OCR + EVIDENCE EXTRACTION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F713FA-966C-464A-98F3-F55F403E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877BC8-4B48-4CD8-96D4-B0C3185C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59B63F-2DAE-463B-9AB5-CA850031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ZeroLeak AI  •  02</a:t>
            </a:r>
          </a:p>
        </p:txBody>
      </p:sp>
    </p:spTree>
    <p:extLst>
      <p:ext uri="{BB962C8B-B14F-4D97-AF65-F5344CB8AC3E}">
        <p14:creationId xmlns:p14="http://schemas.microsoft.com/office/powerpoint/2010/main" val="3180714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27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4A6A79-FF8D-497C-A9BD-A76482F9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02  /  TECHNICAL APPROACH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854E6-453F-481D-B86F-CAB4B6C4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models, one controlled execution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83F990-E6FB-4BD9-91FD-D7D08CD9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Route the task, ground it in local evidence, act through tools and verify the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DCA5A-D06E-43B2-A6EB-825DD218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714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3B4D"/>
          </a:solidFill>
          <a:ln xmlns:a="http://schemas.openxmlformats.org/drawingml/2006/main" w="9525">
            <a:solidFill>
              <a:srgbClr val="4A637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658BE1-D8BE-4A5B-BA4E-4F697F97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050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B3BF6-7994-4FB1-83AE-8559C60B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133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Scanned PDFs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P&amp;IDs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and spreadsheets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SOPs and manuals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DB0EF-9994-4A15-A5D4-C3A920F3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62150"/>
            <a:ext cx="1809750" cy="182880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04624-D919-458D-9675-41512226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7170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ROUTER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181C4-0BBB-4B48-B1AD-C077230A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14600"/>
            <a:ext cx="1381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Task-aware</a:t>
            </a:r>
          </a:p>
          <a:p xmlns:a="http://schemas.openxmlformats.org/drawingml/2006/main">
            <a:pPr algn="ctr">
              <a:defRPr sz="187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model selection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656DD-39A6-4CE3-8016-076FA2AC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28975"/>
            <a:ext cx="1381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127.0.0.1</a:t>
            </a:r>
          </a:p>
          <a:p xmlns:a="http://schemas.openxmlformats.org/drawingml/2006/main">
            <a:pPr algn="ctr">
              <a:defRPr sz="1200" b="0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load on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E50C0-A733-422B-9639-5DE79A28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14550"/>
            <a:ext cx="176212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43B4D"/>
          </a:solidFill>
          <a:ln xmlns:a="http://schemas.openxmlformats.org/drawingml/2006/main" w="9525">
            <a:solidFill>
              <a:srgbClr val="4A63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756FF-2A0D-4957-AAD9-FBE9D753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050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LOCAL TOOLS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A18F8-D45A-4851-BBB7-C403970F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19375"/>
            <a:ext cx="133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OCR and vision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 + citations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Sandbox execution</a:t>
            </a:r>
          </a:p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 generators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D3708-82D4-47C0-83A5-462A7734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14550"/>
            <a:ext cx="15240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F1B2C-5461-4FB2-BE57-A45F5251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05050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57B3A5-81D8-483C-8326-A7AE6C3D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19375"/>
            <a:ext cx="1162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DOCX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XLSX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PPTX / PDF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Working code</a:t>
            </a:r>
          </a:p>
        </p:txBody>
      </p:sp>
      <p:cxnSp>
        <p:nvCxnSpPr>
          <p:cNvPr id="53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24100" y="287655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A48"/>
            </a:solidFill>
            <a:prstDash val="solid"/>
            <a:headEnd type="arrow" w="med" len="med"/>
          </a:ln>
        </p:spPr>
      </p:cxnSp>
      <p:cxnSp>
        <p:nvCxnSpPr>
          <p:cNvPr id="54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572000" y="2876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A48"/>
            </a:solidFill>
            <a:prstDash val="solid"/>
            <a:head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810375" y="2876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A48"/>
            </a:solidFill>
            <a:prstDash val="solid"/>
            <a:head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5446E-2097-46E3-B488-C7653860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MODEL ROLES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1C442E-6235-46F7-9257-ACEB550C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Gemma 4 E4B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7FADC0-E59E-4145-A778-B4F49B04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5770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Reasoning and vision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535DA5-E292-4D0C-AF19-1D6FBD3F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PaddleOCR-VL 1.6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DAB88-1369-46D5-9193-27C75D23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7202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Printed scan specialist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81548F-FEB7-4E8E-B5C1-62BE845A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olmOCR 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9223F8-CFDA-445C-8C08-65E6688F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8635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Handwriting fallback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9590C3-20AB-426F-ADC6-5B877550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Nemotron 3 Nano 4B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094C0C-FDE2-4567-B72D-2B56D1D0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00675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Long-document context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66A66E-8747-4783-B27C-6CF96218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762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BGE-M3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E3CD52-B313-4957-8212-8BD29B70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15000"/>
            <a:ext cx="1905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Local embeddings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5862E3-DB02-4DE2-B78C-15B6D462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2247900" cy="19621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361ed777e4402a"/>
          <a:stretch xmlns:a="http://schemas.openxmlformats.org/drawingml/2006/main"/>
        </p:blipFill>
        <p:spPr>
          <a:xfrm xmlns:a="http://schemas.openxmlformats.org/drawingml/2006/main">
            <a:off x="9391650" y="4267200"/>
            <a:ext cx="1943100" cy="1314450"/>
          </a:xfrm>
          <a:prstGeom xmlns:a="http://schemas.openxmlformats.org/drawingml/2006/main" prst="roundRect">
            <a:avLst>
              <a:gd name="adj" fmla="val 7792"/>
            </a:avLst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CDE26B-4F48-47DE-9830-0D58FC68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43575"/>
            <a:ext cx="19431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Vision input</a:t>
            </a:r>
          </a:p>
          <a:p xmlns:a="http://schemas.openxmlformats.org/drawingml/2006/main">
            <a:pPr algn="ctr">
              <a:defRPr sz="1125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P&amp;ID-CDU4-1102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28A085-7F7C-4AEC-B29C-ED31158E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0C6EF3-3A0A-4C59-8FB9-89F339BB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620E20-389E-48BE-AA47-7666F85F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ZeroLeak AI  •  03</a:t>
            </a:r>
          </a:p>
        </p:txBody>
      </p:sp>
    </p:spTree>
    <p:extLst>
      <p:ext uri="{BB962C8B-B14F-4D97-AF65-F5344CB8AC3E}">
        <p14:creationId xmlns:p14="http://schemas.microsoft.com/office/powerpoint/2010/main" val="7675378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8EE864-72B9-4796-9745-BEDF783E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03  /  FEASIBILITY AND VIABILITY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E4C43-8173-46B6-B22A-5846369F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Feasibility and viability are demonstrated on one workstation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1C91F-4075-4E02-8D25-CD239225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prototype closes the core demo loop while keeping the remaining deployment gates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CBDA9-F7CB-4D23-ACA2-69E17C2A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288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PROTOTYPE PROOF POINTS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A71A3-B342-46F6-BEC2-60A55088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8A87D-99FE-451B-9CB4-E4E9B57C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B28DF-EAC0-4677-8320-22442B07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Local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9B0DFD-0052-4069-8734-7EA1258C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288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llama.cpp, Python, Node and pdftoppm are available locally.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0F6C9-F27F-40B0-B0F5-3D43CAE3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949F1-2E79-475A-85CB-0BDCFB82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5D01D7-0E3B-4128-B2E0-1ABF074A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GPU profile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82E4C2-DB1A-4437-9C88-4DE5D67F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480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RTX 4060 Laptop GPU with 7,107 MiB usable and up to 2 resident models.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D140C2-37B8-4F87-BBC8-E02B55B1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3FCBC-151C-430C-B98D-65E6C63E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5BCCB-8EA3-4A76-8D5D-EEFC6C70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Real exporters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38D03-9ACA-4D8E-B073-0E0CA03A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6717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Word, Excel and PowerPoint packages are generated and reopened for checks.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93E45-F6E0-42AE-86CD-E042BCD6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1E8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71BCD-4BA3-4F94-8F2E-FAE2226F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171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E7D5B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7D5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7E4B18-C279-43FA-8A18-57C01F1B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Demo corpus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731B6-F834-4CEF-803F-18C7C087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86325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Synthetic and open-dataset scans and P&amp;IDs keep the rehearsal non-proprietary.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C73550-E817-45C2-A5EF-C1B13662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28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RISKS AND MITIGATIONS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D1650-318E-4698-A3F8-3006DA4B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GPU contention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A7114A-4264-458D-9D26-764DB779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On-demand loading plus idle eviction keeps the memory budget visible.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4F1873-4CD2-4D1F-A657-D336D008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38425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AC9787-52A1-4D67-93D0-21028964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099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Scanned 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5156E8-0164-4515-A147-7C039797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OCR specialist first, then vision fallback when confidence or handwriting requires 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B8DFBB-D630-4903-B1E7-DF84191A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DE2987-60F7-4EF9-A946-7CEB4606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Unknown fields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EB7F9F-4D1B-454E-BADA-2F492AA9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2905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Preserve missing units, limits, owners and dates for human review.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5FA586-2FA9-4CCA-A594-82BFE96B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76725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25CE8B-EA82-441C-928E-4228DEA3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482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Sovereignty proof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B0B7EC-7A02-437A-BB8C-55CD30AA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2809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Pair the application guard with independent OS-level packet capture.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60A4E7-DA6E-4080-AF49-F87CF4E9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714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8187ED-7861-4AA6-A8C3-7AE4A7C31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10848975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7BD8F7-9C39-4D2F-A9E2-54643120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43575"/>
            <a:ext cx="1038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Deployment gate: warm up the target models and rehearse the capture interval on the venue machine before making a final sovereignty claim.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5C7440-2B5F-42A5-BE71-BBB3FAC6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3D8E53-5C12-4F50-BC46-CEA6A470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A997C4-1E7C-42C3-B7B5-25340F29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ZeroLeak AI  •  04</a:t>
            </a:r>
          </a:p>
        </p:txBody>
      </p:sp>
    </p:spTree>
    <p:extLst>
      <p:ext uri="{BB962C8B-B14F-4D97-AF65-F5344CB8AC3E}">
        <p14:creationId xmlns:p14="http://schemas.microsoft.com/office/powerpoint/2010/main" val="7853445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27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45427E-DF12-4465-BF92-A350B432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04  /  IMPACT AND BENEFITS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A573E-5931-4862-B578-CB60BA94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1DCF-24A0-4BC2-BB31-D9668EEF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Confidential industrial work becomes easier to complete without changing where the data lives.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D0222-8BE6-487D-A344-D0190FCB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EXPECTED 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51149-589F-476B-8E75-4D429FE7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1B4BB-E5DE-4949-A239-F5914F00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61C0E7-1461-4BB0-B763-F9D56C99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Engineers and inspectors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7D730-B2B3-421E-8304-6C201089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479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Extract findings from scans and P&amp;IDs while retaining the exact source page.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4BA97-1EBD-45D7-8F54-B2DA0205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5C10C-0D2F-40FE-8841-702F42DC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146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851D9-001D-4436-B5AE-33E13543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7517F3-1CD6-4827-AC36-9A6F3299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242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Receive a draft note and action tracker with unresolved fields visible before a human decision.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FB62F-E630-437D-B95C-AB0EFE52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624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5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BE0C7-9F2B-428E-869A-5FA7244F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C1158-81A9-41B9-85E6-419B20F1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 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CBEF9-CC57-4EFC-BF3E-9D8D6326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Search manuals and SOPs locally with citations that point back to the retrieved evidence.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C90BE0-4779-4440-8366-7396A254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387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281BF-4AA1-47E2-8D13-D4F4A19D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7275"/>
            <a:ext cx="257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944D6-566F-4674-90D1-69666A6E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 and security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087A5D-8847-440A-8D29-1F58CDE3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76825"/>
            <a:ext cx="485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Inspect model routing, tool calls, artifacts and network decisions in one workbench.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145373-E87C-45E2-8DF9-5FCFF327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66900"/>
            <a:ext cx="40576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465ae63af43dc"/>
          <a:srcRect xmlns:a="http://schemas.openxmlformats.org/drawingml/2006/main" l="0" t="20053" r="0" b="200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2114550"/>
            <a:ext cx="3562350" cy="21336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E5B9C0-D8DE-430F-A246-9966ADD9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815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7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738"/>
                </a:solidFill>
                <a:latin typeface="Arial"/>
                <a:ea typeface="Arial"/>
                <a:cs typeface="Arial"/>
              </a:rPr>
              <a:t>Operator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515E60-1B98-49D4-8D41-30DC826F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6291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value is a verified work package, not a chat reply.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B35DF6-EA7F-436C-95CD-02A63814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3E4A3A-FA6F-4207-821E-454EBB75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1FEE76-148C-4B3A-B687-059AC059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102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workstation-ready 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4B0EC5-4B12-4025-8CB4-419915AC5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962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FB6D5E-49AE-4F14-816F-CA16D696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0102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model roles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E7B982-AA46-40F9-B3DF-B82C5819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9626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C42BA8-AAA8-4AF0-A3F5-F0ED523F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60102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8D3D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8D3D8"/>
                </a:solidFill>
                <a:latin typeface="Arial"/>
                <a:ea typeface="Arial"/>
                <a:cs typeface="Arial"/>
              </a:rPr>
              <a:t>artifact types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F5C952-25AA-4971-940A-D9AD0A57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0198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94A9B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4A9B5"/>
                </a:solidFill>
                <a:latin typeface="Arial"/>
                <a:ea typeface="Arial"/>
                <a:cs typeface="Arial"/>
              </a:rPr>
              <a:t>prototype catalog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BF7880-DBCD-4B59-A433-44AF54B4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3977EF-C130-4EF7-A64B-4EC67F9B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C0BF01-473A-4490-AD19-1D45866E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AFC0C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FC0CA"/>
                </a:solidFill>
                <a:latin typeface="Arial"/>
                <a:ea typeface="Arial"/>
                <a:cs typeface="Arial"/>
              </a:rPr>
              <a:t>ZeroLeak AI  •  05</a:t>
            </a:r>
          </a:p>
        </p:txBody>
      </p:sp>
    </p:spTree>
    <p:extLst>
      <p:ext uri="{BB962C8B-B14F-4D97-AF65-F5344CB8AC3E}">
        <p14:creationId xmlns:p14="http://schemas.microsoft.com/office/powerpoint/2010/main" val="3358123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18034A-533C-4B27-B338-A0A7F6A9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05  /  RESEARCH AND 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21BD9-3E95-480D-8AAE-D1D97BA9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90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580DC-3CAB-44E3-AA9C-0D2329A5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573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The deck follows the SIH idea-submission order and separates public sources from local product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C6B0A-CA4E-4536-B52A-3A659982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FORMAT FOLLOWED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450394-9B9E-428D-B564-8EAE0EB9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288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5303E-A40D-4477-AD44-9EB26EB9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9E205-E737-481B-B8BE-44CFC40A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Title page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830C9-E545-44BD-B7B9-BE09FCFC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765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FEED1-A07D-48D3-B802-640C583D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445F3-6B54-4823-8BC7-C944981D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574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6C4A7-7414-4D6C-8CDC-949B7D72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C8A710-0C31-48DA-A0EB-2049C7E6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BD326-22F2-4351-AF08-76C249D5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Technical approach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092F3-DC47-4A66-9BF9-22720AE4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425E1F-A169-4F32-8C83-15DD9CD8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62CF0-8DAB-45A7-B8CE-ADF5FADB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Feasibility and viability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D3E5F-ABB0-4D4B-A5B0-BDB4F19F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95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3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1045B-59B1-42FF-920F-EE52D7A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48125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354BA-5271-4C0A-B1AC-68B6B51B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69B00-9F04-4FC2-8079-67C961B5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67225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16B491-4286-49FE-83CD-405C8FA1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219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54C78-5C43-407B-9F16-F7586F06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Research and references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DFC137-C415-40BA-BBD0-7638C374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85950"/>
            <a:ext cx="9525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5AEC2C-EC1B-435F-9042-40C6B031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66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PUBLIC SOURCES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05E22-AA96-43A9-9E85-D20B8C95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098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SIH 2026 problem statement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45A24B-DB8A-4CD6-9970-9C81B001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574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sih.gov.in/sih2026PS</a:t>
            </a:r>
          </a:p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SIH26117 metadata and expected solution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5F9D1E-9C11-4CF1-BC5A-DFD1A1F0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670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SIH idea presentation format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49DD0E-F22C-40B9-AEE3-3AF72B78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147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cmrit.ac.in/.../SIH2024_IDEA_Presentation_Format.pdf</a:t>
            </a:r>
          </a:p>
          <a:p xmlns:a="http://schemas.openxmlformats.org/drawingml/2006/main">
            <a:pPr algn="l">
              <a:defRPr sz="1275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Six-slide order and content pointers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966878-D981-411A-86AA-774F98F0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92430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753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E8753B"/>
                </a:solidFill>
                <a:latin typeface="Arial"/>
                <a:ea typeface="Arial"/>
                <a:cs typeface="Arial"/>
              </a:rPr>
              <a:t>LOCAL PRODUCT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2EEE45-AAFD-4706-B5B2-24A37CFF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672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README.md  •  MRPL_WORKFLOWS.md</a:t>
            </a:r>
          </a:p>
          <a:p xmlns:a="http://schemas.openxmlformats.org/drawingml/2006/main">
            <a:pPr algn="l">
              <a:defRPr sz="1275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Scoped Models, Readiness, Network, Artifacts and Audit panels</a:t>
            </a:r>
          </a:p>
          <a:p xmlns:a="http://schemas.openxmlformats.org/drawingml/2006/main">
            <a:pPr algn="l">
              <a:defRPr sz="1275" b="0" i="0">
                <a:solidFill>
                  <a:srgbClr val="1F2A35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F2A35"/>
                </a:solidFill>
                <a:latin typeface="Arial"/>
                <a:ea typeface="Arial"/>
                <a:cs typeface="Arial"/>
              </a:rPr>
              <a:t>Synthetic inspection scans and open-dataset P&amp;ID samples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46B118-0EB6-4243-AF6A-325A0AEF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353050"/>
            <a:ext cx="5143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27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7DC122-91E8-4019-9028-F80E9F27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4959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29A4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29A48"/>
                </a:solidFill>
                <a:latin typeface="Arial"/>
                <a:ea typeface="Arial"/>
                <a:cs typeface="Arial"/>
              </a:rPr>
              <a:t>Submission note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F27206-900E-428B-B474-3F33FC7E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95925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Replace [TEAM NAME] and [TEAM ID] before upload. Export to PDF if the portal requires it.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609A06-D1A5-410F-B4DF-4E2E1C55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E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7A2644-C652-4A1A-9728-9E9DB1FD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SIH 2026  •  SIH26117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28B43D-B692-48E4-AE90-AD90D9AD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6717B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B"/>
                </a:solidFill>
                <a:latin typeface="Arial"/>
                <a:ea typeface="Arial"/>
                <a:cs typeface="Arial"/>
              </a:rPr>
              <a:t>ZeroLeak AI  •  06</a:t>
            </a:r>
          </a:p>
        </p:txBody>
      </p:sp>
    </p:spTree>
    <p:extLst>
      <p:ext uri="{BB962C8B-B14F-4D97-AF65-F5344CB8AC3E}">
        <p14:creationId xmlns:p14="http://schemas.microsoft.com/office/powerpoint/2010/main" val="317386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2026-09-07T16:04:33.9390000Z</dcterms:created>
  <dcterms:modified xsi:type="dcterms:W3CDTF">2026-09-07T16:04:33.9390000Z</dcterms:modified>
</coreProperties>
</file>