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3c77ab5a22b452b" /><Relationship Type="http://schemas.openxmlformats.org/officeDocument/2006/relationships/extended-properties" Target="/docProps/app.xml" Id="Rdad2e712c6904bd7" /><Relationship Type="http://schemas.openxmlformats.org/officeDocument/2006/relationships/officeDocument" Target="/ppt/presentation.xml" Id="R673d406863b84a3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02dd36711ef483a"/>
  </p:sldMasterIdLst>
  <p:notesMasterIdLst>
    <p:notesMasterId xmlns:r="http://schemas.openxmlformats.org/officeDocument/2006/relationships" r:id="R86841d2543454bec"/>
  </p:notesMasterIdLst>
  <p:sldIdLst>
    <p:sldId xmlns:r="http://schemas.openxmlformats.org/officeDocument/2006/relationships" id="256" r:id="R904e8575056e455d"/>
    <p:sldId xmlns:r="http://schemas.openxmlformats.org/officeDocument/2006/relationships" id="257" r:id="R2588bd53584c4d09"/>
    <p:sldId xmlns:r="http://schemas.openxmlformats.org/officeDocument/2006/relationships" id="258" r:id="R6679b59dc5f142b7"/>
    <p:sldId xmlns:r="http://schemas.openxmlformats.org/officeDocument/2006/relationships" id="259" r:id="Rdf59c2d5d9b04552"/>
    <p:sldId xmlns:r="http://schemas.openxmlformats.org/officeDocument/2006/relationships" id="260" r:id="R8ccc65cacead43f1"/>
    <p:sldId xmlns:r="http://schemas.openxmlformats.org/officeDocument/2006/relationships" id="261" r:id="R25ce8443044147a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b8d9aa5247142ae" /><Relationship Type="http://schemas.openxmlformats.org/officeDocument/2006/relationships/slideMaster" Target="/ppt/slideMasters/slideMaster1.xml" Id="R202dd36711ef483a" /><Relationship Type="http://schemas.openxmlformats.org/officeDocument/2006/relationships/notesMaster" Target="/ppt/notesMasters/notesMaster1.xml" Id="R86841d2543454bec" /><Relationship Type="http://schemas.openxmlformats.org/officeDocument/2006/relationships/presProps" Target="/ppt/presProps.xml" Id="Rc8ab06a420c545b4" /><Relationship Type="http://schemas.openxmlformats.org/officeDocument/2006/relationships/tableStyles" Target="/ppt/tableStyles.xml" Id="R0b8e837cf0314ecc" /><Relationship Type="http://schemas.openxmlformats.org/officeDocument/2006/relationships/slide" Target="/ppt/slides/slide1.xml" Id="R904e8575056e455d" /><Relationship Type="http://schemas.openxmlformats.org/officeDocument/2006/relationships/slide" Target="/ppt/slides/slide2.xml" Id="R2588bd53584c4d09" /><Relationship Type="http://schemas.openxmlformats.org/officeDocument/2006/relationships/slide" Target="/ppt/slides/slide3.xml" Id="R6679b59dc5f142b7" /><Relationship Type="http://schemas.openxmlformats.org/officeDocument/2006/relationships/slide" Target="/ppt/slides/slide4.xml" Id="Rdf59c2d5d9b04552" /><Relationship Type="http://schemas.openxmlformats.org/officeDocument/2006/relationships/slide" Target="/ppt/slides/slide5.xml" Id="R8ccc65cacead43f1" /><Relationship Type="http://schemas.openxmlformats.org/officeDocument/2006/relationships/slide" Target="/ppt/slides/slide6.xml" Id="R25ce8443044147a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cd1da8aa106437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8ca01a630e84bfb" /><Relationship Type="http://schemas.openxmlformats.org/officeDocument/2006/relationships/notesMaster" Target="/ppt/notesMasters/notesMaster1.xml" Id="R7ae34195b964426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2b0a08448e94e7a" /><Relationship Type="http://schemas.openxmlformats.org/officeDocument/2006/relationships/notesMaster" Target="/ppt/notesMasters/notesMaster1.xml" Id="R40eb244cbacc494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4712ac93d2d41c6" /><Relationship Type="http://schemas.openxmlformats.org/officeDocument/2006/relationships/notesMaster" Target="/ppt/notesMasters/notesMaster1.xml" Id="Rf688f8c2eb6d489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16bf24ef0214f92" /><Relationship Type="http://schemas.openxmlformats.org/officeDocument/2006/relationships/notesMaster" Target="/ppt/notesMasters/notesMaster1.xml" Id="R8a30572a2a58475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f8b0f6058c54ec4" /><Relationship Type="http://schemas.openxmlformats.org/officeDocument/2006/relationships/notesMaster" Target="/ppt/notesMasters/notesMaster1.xml" Id="Re6518fabc6074f1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6adb2531036486c" /><Relationship Type="http://schemas.openxmlformats.org/officeDocument/2006/relationships/notesMaster" Target="/ppt/notesMasters/notesMaster1.xml" Id="R6a682127b2154aa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Problem statement metadata: SIH26117, S.No. 117, title, MRPL, category Software and theme Smart Automation.</a:t>
            </a:r>
          </a:p>
          <a:p xmlns:a="http://schemas.openxmlformats.org/drawingml/2006/main">
            <a:r>
              <a:t>Primary source: https://sih.gov.in/sih2026PS</a:t>
            </a:r>
          </a:p>
          <a:p xmlns:a="http://schemas.openxmlformats.org/drawingml/2006/main">
            <a:r>
              <a:t>Cross-check: https://github.com/jeevansai-hub/SIH-2026-/blob/main/ps_2026/SIH26117.md</a:t>
            </a:r>
          </a:p>
          <a:p xmlns:a="http://schemas.openxmlformats.org/drawingml/2006/main">
            <a:r>
              <a:t>Project source: C:/Users/harih/OneDrive/Documents/ocr/zero-leak-app/README.md</a:t>
            </a:r>
          </a:p>
          <a:p xmlns:a="http://schemas.openxmlformats.org/drawingml/2006/main">
            <a:r>
              <a:t>Replace [TEAM NAME] and [TEAM ID] with portal-registered values before submission.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Solution claims are based on the SIH26117 description, which calls for a self-hosted, air-gapped workbench that supports multiple open-weight models, local tools, multimodal inputs and real deliverables.</a:t>
            </a:r>
          </a:p>
          <a:p xmlns:a="http://schemas.openxmlformats.org/drawingml/2006/main">
            <a:r>
              <a:t>Product evidence: C:/Users/harih/OneDrive/Documents/ocr/zero-leak-app/README.md and MRPL_WORKFLOWS.md.</a:t>
            </a:r>
          </a:p>
          <a:p xmlns:a="http://schemas.openxmlformats.org/drawingml/2006/main">
            <a:r>
              <a:t>Visual asset: synthetic inspection note at C:/Users/harih/OneDrive/Documents/ocr/zero-leak-app/examples/mrpl-demo/turbine-cdu4/turbine-reports/scan-inspection-note.png.</a:t>
            </a:r>
          </a:p>
          <a:p xmlns:a="http://schemas.openxmlformats.org/drawingml/2006/main">
            <a:r>
              <a:t>The sample corpus is synthetic and contains no proprietary MRPL record.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Technical approach reflects the local model registry and router implementation.</a:t>
            </a:r>
          </a:p>
          <a:p xmlns:a="http://schemas.openxmlformats.org/drawingml/2006/main">
            <a:r>
              <a:t>Source: C:/Users/harih/OneDrive/Documents/ocr/zero-leak-app/src/services/registry.ts</a:t>
            </a:r>
          </a:p>
          <a:p xmlns:a="http://schemas.openxmlformats.org/drawingml/2006/main">
            <a:r>
              <a:t>Source: C:/Users/harih/OneDrive/Documents/ocr/zero-leak-app/src-tauri/src/router.rs</a:t>
            </a:r>
          </a:p>
          <a:p xmlns:a="http://schemas.openxmlformats.org/drawingml/2006/main">
            <a:r>
              <a:t>The workbench binds the model router to 127.0.0.1 and routes OCR, vision, embeddings, reasoning and coding to different local model roles.</a:t>
            </a:r>
          </a:p>
          <a:p xmlns:a="http://schemas.openxmlformats.org/drawingml/2006/main">
            <a:r>
              <a:t>Visual asset: synthetic P&amp;ID at C:/Users/harih/OneDrive/Documents/ocr/zero-leak-app/examples/mrpl-demo/turbine-cdu4/turbine-reports/PID-CDU4-1102.png.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Readiness proof points come from the live local Workflows → Readiness screen and the project workflow guide.</a:t>
            </a:r>
          </a:p>
          <a:p xmlns:a="http://schemas.openxmlformats.org/drawingml/2006/main">
            <a:r>
              <a:t>Sources: C:/Users/harih/OneDrive/Documents/ocr/zero-leak-app/MRPL_WORKFLOWS.md and C:/Users/harih/OneDrive/Documents/ocr/zero-leak-app/.uifix/readiness-result.json.</a:t>
            </a:r>
          </a:p>
          <a:p xmlns:a="http://schemas.openxmlformats.org/drawingml/2006/main">
            <a:r>
              <a:t>The GPU number is a development-machine measurement from the local app UI, not a universal deployment requirement.</a:t>
            </a:r>
          </a:p>
          <a:p xmlns:a="http://schemas.openxmlformats.org/drawingml/2006/main">
            <a:r>
              <a:t>The project documentation explicitly says application network decisions are not a packet capture, so the deck preserves the independent OS capture step.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Expected impact is derived from the SIH26117 expected solution and from the implemented workflow surfaces.</a:t>
            </a:r>
          </a:p>
          <a:p xmlns:a="http://schemas.openxmlformats.org/drawingml/2006/main">
            <a:r>
              <a:t>Product sources: C:/Users/harih/OneDrive/Documents/ocr/zero-leak-app/README.md, MRPL_WORKFLOWS.md and the live Artifacts, Audit and Knowledge panels.</a:t>
            </a:r>
          </a:p>
          <a:p xmlns:a="http://schemas.openxmlformats.org/drawingml/2006/main">
            <a:r>
              <a:t>The counts shown are prototype catalog facts: five named model roles in the registry and seven supported artifact kinds in the local types and artifact implementation.</a:t>
            </a:r>
          </a:p>
          <a:p xmlns:a="http://schemas.openxmlformats.org/drawingml/2006/main">
            <a:r>
              <a:t>Visual asset: synthetic gauge photograph at C:/Users/harih/OneDrive/Documents/ocr/zero-leak-app/examples/mrpl-demo/turbine-cdu4/turbine-reports/gauge-photo.jpg.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Public sources used in the deck:</a:t>
            </a:r>
          </a:p>
          <a:p xmlns:a="http://schemas.openxmlformats.org/drawingml/2006/main">
            <a:r>
              <a:t>1) https://sih.gov.in/sih2026PS</a:t>
            </a:r>
          </a:p>
          <a:p xmlns:a="http://schemas.openxmlformats.org/drawingml/2006/main">
            <a:r>
              <a:t>2) https://github.com/jeevansai-hub/SIH-2026-/blob/main/ps_2026/SIH26117.md</a:t>
            </a:r>
          </a:p>
          <a:p xmlns:a="http://schemas.openxmlformats.org/drawingml/2006/main">
            <a:r>
              <a:t>3) https://www.cmrit.ac.in/wp-content/uploads/2024/10/SIH2024_IDEA_Presentation_Format.pdf</a:t>
            </a:r>
          </a:p>
          <a:p xmlns:a="http://schemas.openxmlformats.org/drawingml/2006/main">
            <a:r>
              <a:t>Local sources used in the deck:</a:t>
            </a:r>
          </a:p>
          <a:p xmlns:a="http://schemas.openxmlformats.org/drawingml/2006/main">
            <a:r>
              <a:t>C:/Users/harih/OneDrive/Documents/ocr/zero-leak-app/README.md</a:t>
            </a:r>
          </a:p>
          <a:p xmlns:a="http://schemas.openxmlformats.org/drawingml/2006/main">
            <a:r>
              <a:t>C:/Users/harih/OneDrive/Documents/ocr/zero-leak-app/MRPL_WORKFLOWS.md</a:t>
            </a:r>
          </a:p>
          <a:p xmlns:a="http://schemas.openxmlformats.org/drawingml/2006/main">
            <a:r>
              <a:t>C:/Users/harih/OneDrive/Documents/ocr/zero-leak-app/src/services/registry.ts</a:t>
            </a:r>
          </a:p>
          <a:p xmlns:a="http://schemas.openxmlformats.org/drawingml/2006/main">
            <a:r>
              <a:t>C:/Users/harih/OneDrive/Documents/ocr/zero-leak-app/examples/mrpl-demo/README.md</a:t>
            </a:r>
          </a:p>
          <a:p xmlns:a="http://schemas.openxmlformats.org/drawingml/2006/main">
            <a:r>
              <a:t>The local demo corpus is synthetic/open-dataset material, not proprietary industrial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6573b2692649e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2da4b09af244aa7" /><Relationship Type="http://schemas.openxmlformats.org/officeDocument/2006/relationships/slideLayout" Target="/ppt/slideLayouts/slideLayout1.xml" Id="R04aa57daa893459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4aa57daa893459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69def6f9fa4b17" /><Relationship Type="http://schemas.openxmlformats.org/officeDocument/2006/relationships/notesSlide" Target="/ppt/notesSlides/notesSlide1.xml" Id="R828515a4bdce4ef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11e56aa87f4a11" /><Relationship Type="http://schemas.openxmlformats.org/officeDocument/2006/relationships/image" Target="/ppt/media/image.png" Id="Rdee583a9a4f74916" /><Relationship Type="http://schemas.openxmlformats.org/officeDocument/2006/relationships/notesSlide" Target="/ppt/notesSlides/notesSlide2.xml" Id="R59def1ccb0004db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ffbee61f9548ce" /><Relationship Type="http://schemas.openxmlformats.org/officeDocument/2006/relationships/image" Target="/ppt/media/image2.png" Id="R2cd7b6b0e62146f4" /><Relationship Type="http://schemas.openxmlformats.org/officeDocument/2006/relationships/notesSlide" Target="/ppt/notesSlides/notesSlide3.xml" Id="R97e103512ca643f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cf3395e52a4cf0" /><Relationship Type="http://schemas.openxmlformats.org/officeDocument/2006/relationships/notesSlide" Target="/ppt/notesSlides/notesSlide4.xml" Id="R99d4d44fc372444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04b2dcf7db4206" /><Relationship Type="http://schemas.openxmlformats.org/officeDocument/2006/relationships/image" Target="/ppt/media/image.jpeg" Id="R28a8a95149f246b2" /><Relationship Type="http://schemas.openxmlformats.org/officeDocument/2006/relationships/notesSlide" Target="/ppt/notesSlides/notesSlide5.xml" Id="R48ac08961730487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ada75216f34ac8" /><Relationship Type="http://schemas.openxmlformats.org/officeDocument/2006/relationships/notesSlide" Target="/ppt/notesSlides/notesSlide6.xml" Id="Rd0a80fd096294c2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27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D3EDBE-4835-4E5D-B61A-90BC8F799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104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5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BEDE67-42B7-400B-B382-073808057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D9E3E7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D9E3E7"/>
                </a:solidFill>
                <a:latin typeface="Arial"/>
                <a:ea typeface="Arial"/>
                <a:cs typeface="Arial"/>
              </a:rPr>
              <a:t>SMART INDIA HACKATHON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54DA02-1D98-43C4-BCA2-16285D806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57200"/>
            <a:ext cx="28956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600" b="1" i="0">
                <a:solidFill>
                  <a:srgbClr val="E8753B"/>
                </a:solidFill>
                <a:latin typeface="Arial"/>
                <a:ea typeface="Arial"/>
                <a:cs typeface="Arial"/>
              </a:defRPr>
            </a:pPr>
            <a:r>
              <a:rPr sz="9600" b="1" i="0">
                <a:solidFill>
                  <a:srgbClr val="E8753B"/>
                </a:solidFill>
                <a:latin typeface="Arial"/>
                <a:ea typeface="Arial"/>
                <a:cs typeface="Arial"/>
              </a:rPr>
              <a:t>117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6E81D6-5995-493C-82D2-1568D6F2F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133600"/>
            <a:ext cx="2286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 i="0">
                <a:solidFill>
                  <a:srgbClr val="C8D3D8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C8D3D8"/>
                </a:solidFill>
                <a:latin typeface="Arial"/>
                <a:ea typeface="Arial"/>
                <a:cs typeface="Arial"/>
              </a:rPr>
              <a:t>SOVEREIGN</a:t>
            </a:r>
          </a:p>
          <a:p xmlns:a="http://schemas.openxmlformats.org/drawingml/2006/main">
            <a:pPr algn="r">
              <a:defRPr sz="1350" b="1" i="0">
                <a:solidFill>
                  <a:srgbClr val="C8D3D8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C8D3D8"/>
                </a:solidFill>
                <a:latin typeface="Arial"/>
                <a:ea typeface="Arial"/>
                <a:cs typeface="Arial"/>
              </a:rPr>
              <a:t>ON-PREMISE</a:t>
            </a:r>
          </a:p>
          <a:p xmlns:a="http://schemas.openxmlformats.org/drawingml/2006/main">
            <a:pPr algn="r">
              <a:defRPr sz="1350" b="1" i="0">
                <a:solidFill>
                  <a:srgbClr val="C8D3D8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C8D3D8"/>
                </a:solidFill>
                <a:latin typeface="Arial"/>
                <a:ea typeface="Arial"/>
                <a:cs typeface="Arial"/>
              </a:rPr>
              <a:t>AGENTIC 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50D021-26A8-471A-8F64-8A6C079DC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7620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ZeroLeak AI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A1E5FB-AB05-4D86-9594-4999D8CBA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0"/>
            <a:ext cx="685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 i="0">
                <a:solidFill>
                  <a:srgbClr val="D0D9DD"/>
                </a:solidFill>
                <a:latin typeface="Arial"/>
                <a:ea typeface="Arial"/>
                <a:cs typeface="Arial"/>
              </a:defRPr>
            </a:pPr>
            <a:r>
              <a:rPr sz="1950" b="0" i="0">
                <a:solidFill>
                  <a:srgbClr val="D0D9DD"/>
                </a:solidFill>
                <a:latin typeface="Arial"/>
                <a:ea typeface="Arial"/>
                <a:cs typeface="Arial"/>
              </a:rPr>
              <a:t>A local workbench for confidential industrial work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243AB0-6F0C-4E1B-BC97-5F58744B8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86150"/>
            <a:ext cx="685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55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DEB7C2-D548-4773-B06B-CCC7302B9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81425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29A4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29A48"/>
                </a:solidFill>
                <a:latin typeface="Arial"/>
                <a:ea typeface="Arial"/>
                <a:cs typeface="Arial"/>
              </a:rPr>
              <a:t>Problem Statement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D6B0F3-BFCA-4B9C-8EC5-09881A764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29075"/>
            <a:ext cx="695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SIH26117  |  Sovereign On-Premise Agentic AI Workbench using Open-Weight Multimodal LLMs for Confidential Industrial Work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00B0D0-F37E-4E02-9072-382945EE0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81575"/>
            <a:ext cx="781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B9C7CE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B9C7CE"/>
                </a:solidFill>
                <a:latin typeface="Arial"/>
                <a:ea typeface="Arial"/>
                <a:cs typeface="Arial"/>
              </a:rPr>
              <a:t>Mangalore Refinery and Petrochemicals Limited (MRPL)  •  Smart Automation  •  Software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5B7508-0830-4DB4-B67A-A09404195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10225"/>
            <a:ext cx="495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Team: [TEAM NAME]   •   Team ID: [TEAM ID]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34D684-47B0-49B7-A6AD-8C54A6863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53125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94A9B5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94A9B5"/>
                </a:solidFill>
                <a:latin typeface="Arial"/>
                <a:ea typeface="Arial"/>
                <a:cs typeface="Arial"/>
              </a:rPr>
              <a:t>Idea submission deck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ECBA9C-6A29-42D0-BEA7-2A60CCD3E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9531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 i="0">
                <a:solidFill>
                  <a:srgbClr val="94A9B5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94A9B5"/>
                </a:solidFill>
                <a:latin typeface="Arial"/>
                <a:ea typeface="Arial"/>
                <a:cs typeface="Arial"/>
              </a:rPr>
              <a:t>Prototype evidence from a local ZeroLeak AI workstation</a:t>
            </a:r>
          </a:p>
        </p:txBody>
      </p:sp>
    </p:spTree>
    <p:extLst>
      <p:ext uri="{BB962C8B-B14F-4D97-AF65-F5344CB8AC3E}">
        <p14:creationId xmlns:p14="http://schemas.microsoft.com/office/powerpoint/2010/main" val="66823514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6D04153-5ECD-4452-9C52-829E2254B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E8753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E8753B"/>
                </a:solidFill>
                <a:latin typeface="Arial"/>
                <a:ea typeface="Arial"/>
                <a:cs typeface="Arial"/>
              </a:rPr>
              <a:t>01  /  PROPOSED SOLUTION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66A50C-84C5-4157-A31B-C21E4C5A7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857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F2A35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1F2A35"/>
                </a:solidFill>
                <a:latin typeface="Arial"/>
                <a:ea typeface="Arial"/>
                <a:cs typeface="Arial"/>
              </a:rPr>
              <a:t>A private agent for work that cannot leave the site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6F71E5-BF2A-4A8B-B318-D29B543F8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24000"/>
            <a:ext cx="800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66717B"/>
                </a:solidFill>
                <a:latin typeface="Arial"/>
                <a:ea typeface="Arial"/>
                <a:cs typeface="Arial"/>
              </a:rPr>
              <a:t>The workbench keeps documents local while still acting like a useful task partner.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82604B-508D-44E0-A52E-42D7C8E2F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00250"/>
            <a:ext cx="257175" cy="257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5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81FFC5-8612-4774-B914-120FB454C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28825"/>
            <a:ext cx="2571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5397ED-35CB-4A0C-9BD7-8F3A5E748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81200"/>
            <a:ext cx="266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F2A35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F2A35"/>
                </a:solidFill>
                <a:latin typeface="Arial"/>
                <a:ea typeface="Arial"/>
                <a:cs typeface="Arial"/>
              </a:rPr>
              <a:t>Self-hosted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448C1D-FA49-4714-9B61-722A2F1D5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38375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66717B"/>
                </a:solidFill>
                <a:latin typeface="Arial"/>
                <a:ea typeface="Arial"/>
                <a:cs typeface="Arial"/>
              </a:rPr>
              <a:t>Runs on the organization’s own workstation or GPU server. Public cloud assistants never sit in the workflow.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1562F7-ADA1-4E98-B8F1-15E0A6013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62275"/>
            <a:ext cx="257175" cy="257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8B8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B5C1CE-CFC9-405D-BC47-64246F58C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90850"/>
            <a:ext cx="2571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BD0473-5E7C-4AB2-98C5-1F86308FB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43225"/>
            <a:ext cx="266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F2A35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F2A35"/>
                </a:solidFill>
                <a:latin typeface="Arial"/>
                <a:ea typeface="Arial"/>
                <a:cs typeface="Arial"/>
              </a:rPr>
              <a:t>Task-aware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D66FEB-E494-4698-BF1F-C2AB02117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0040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66717B"/>
                </a:solidFill>
                <a:latin typeface="Arial"/>
                <a:ea typeface="Arial"/>
                <a:cs typeface="Arial"/>
              </a:rPr>
              <a:t>Routes coding, long-document, OCR and vision work to the right local model on demand.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6F4320-8A3C-4F9E-9161-9DC2C309B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24300"/>
            <a:ext cx="257175" cy="257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B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190E08-56BB-4899-A5B2-1F556B7E4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52875"/>
            <a:ext cx="2571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398804-1EBD-464D-B743-F6FB192E6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05250"/>
            <a:ext cx="266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F2A35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F2A35"/>
                </a:solidFill>
                <a:latin typeface="Arial"/>
                <a:ea typeface="Arial"/>
                <a:cs typeface="Arial"/>
              </a:rPr>
              <a:t>Actionable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CB2B86-949B-4501-9CAE-624EAA3E9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62425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66717B"/>
                </a:solidFill>
                <a:latin typeface="Arial"/>
                <a:ea typeface="Arial"/>
                <a:cs typeface="Arial"/>
              </a:rPr>
              <a:t>Reads files, searches local knowledge, runs sandboxed tools and creates reviewable deliverables.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59078E-6823-4BF9-90AA-808D3C5D7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19700"/>
            <a:ext cx="5238750" cy="704850"/>
          </a:xfrm>
          <a:prstGeom xmlns:a="http://schemas.openxmlformats.org/drawingml/2006/main" prst="roundRect">
            <a:avLst>
              <a:gd name="adj" fmla="val 21622"/>
            </a:avLst>
          </a:prstGeom>
          <a:solidFill xmlns:a="http://schemas.openxmlformats.org/drawingml/2006/main">
            <a:srgbClr val="1727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6C88DA-27D8-4502-BF6B-300C17789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91150"/>
            <a:ext cx="4572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output is a work package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17E04D-218A-48C5-A18A-D7AB6A8E6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67375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C8D3D8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C8D3D8"/>
                </a:solidFill>
                <a:latin typeface="Arial"/>
                <a:ea typeface="Arial"/>
                <a:cs typeface="Arial"/>
              </a:rPr>
              <a:t>Source citations  +  approval note  +  action tracker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6AE10D-78D2-4D27-A327-DA665C223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695450"/>
            <a:ext cx="4876800" cy="4248150"/>
          </a:xfrm>
          <a:prstGeom xmlns:a="http://schemas.openxmlformats.org/drawingml/2006/main" prst="roundRect">
            <a:avLst>
              <a:gd name="adj" fmla="val 35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CEC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e583a9a4f74916"/>
          <a:stretch xmlns:a="http://schemas.openxmlformats.org/drawingml/2006/main"/>
        </p:blipFill>
        <p:spPr>
          <a:xfrm xmlns:a="http://schemas.openxmlformats.org/drawingml/2006/main">
            <a:off x="7870344" y="1952625"/>
            <a:ext cx="2356813" cy="3333750"/>
          </a:xfrm>
          <a:prstGeom xmlns:a="http://schemas.openxmlformats.org/drawingml/2006/main" prst="roundRect">
            <a:avLst>
              <a:gd name="adj" fmla="val 3429"/>
            </a:avLst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8E1CA9-CF94-4F8A-A712-3A1FD7DF0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5476875"/>
            <a:ext cx="42672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E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2A7752-646B-4234-8E0F-5D9D3D833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543550"/>
            <a:ext cx="3962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2E8B84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2E8B84"/>
                </a:solidFill>
                <a:latin typeface="Arial"/>
                <a:ea typeface="Arial"/>
                <a:cs typeface="Arial"/>
              </a:rPr>
              <a:t>IMAGE-ONLY PAGE  •  OCR + EVIDENCE EXTRACTION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2D20A16-9FF0-4483-9C53-FCC6B2B9B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E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11BABCF-F3B3-4DCC-9E45-03430570A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6717B"/>
                </a:solidFill>
                <a:latin typeface="Arial"/>
                <a:ea typeface="Arial"/>
                <a:cs typeface="Arial"/>
              </a:rPr>
              <a:t>SIH 2026  •  SIH26117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967CDD6-8A9C-4CDF-841F-EFCDD5E7C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43675"/>
            <a:ext cx="1962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6717B"/>
                </a:solidFill>
                <a:latin typeface="Arial"/>
                <a:ea typeface="Arial"/>
                <a:cs typeface="Arial"/>
              </a:rPr>
              <a:t>ZeroLeak AI  •  02</a:t>
            </a:r>
          </a:p>
        </p:txBody>
      </p:sp>
    </p:spTree>
    <p:extLst>
      <p:ext uri="{BB962C8B-B14F-4D97-AF65-F5344CB8AC3E}">
        <p14:creationId xmlns:p14="http://schemas.microsoft.com/office/powerpoint/2010/main" val="114192094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727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00B7AFC-A484-4411-AFB1-E276EBADC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29A4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29A48"/>
                </a:solidFill>
                <a:latin typeface="Arial"/>
                <a:ea typeface="Arial"/>
                <a:cs typeface="Arial"/>
              </a:rPr>
              <a:t>02  /  TECHNICAL APPROACH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BE1A7D-2005-4B0B-ADEB-D99F8684F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857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Local models, one controlled execution path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98C084-D507-44C2-854B-D10AFF5BF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24000"/>
            <a:ext cx="800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C8D3D8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C8D3D8"/>
                </a:solidFill>
                <a:latin typeface="Arial"/>
                <a:ea typeface="Arial"/>
                <a:cs typeface="Arial"/>
              </a:rPr>
              <a:t>Route the task, ground it in local evidence, act through tools and verify the result.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B80202-02F2-4F14-B93A-DDE154744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714500" cy="1524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243B4D"/>
          </a:solidFill>
          <a:ln xmlns:a="http://schemas.openxmlformats.org/drawingml/2006/main" w="9525">
            <a:solidFill>
              <a:srgbClr val="4A637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AD1C1D-2C8B-432F-A861-A18673935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0505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29A4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29A48"/>
                </a:solidFill>
                <a:latin typeface="Arial"/>
                <a:ea typeface="Arial"/>
                <a:cs typeface="Arial"/>
              </a:rPr>
              <a:t>INPUTS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6548E8-BCAC-451C-B06A-609256613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19375"/>
            <a:ext cx="1333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Scanned PDFs</a:t>
            </a:r>
          </a:p>
          <a:p xmlns:a="http://schemas.openxmlformats.org/drawingml/2006/main">
            <a:pPr algn="l">
              <a:defRPr sz="135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P&amp;IDs</a:t>
            </a:r>
          </a:p>
          <a:p xmlns:a="http://schemas.openxmlformats.org/drawingml/2006/main">
            <a:pPr algn="l">
              <a:defRPr sz="135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Code and spreadsheets</a:t>
            </a:r>
          </a:p>
          <a:p xmlns:a="http://schemas.openxmlformats.org/drawingml/2006/main">
            <a:pPr algn="l">
              <a:defRPr sz="135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SOPs and manuals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5F5A59-A12C-40AB-869E-B06924282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962150"/>
            <a:ext cx="1809750" cy="182880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E875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07A8F2-013E-494E-BF83-214CA9022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171700"/>
            <a:ext cx="1381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7273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72738"/>
                </a:solidFill>
                <a:latin typeface="Arial"/>
                <a:ea typeface="Arial"/>
                <a:cs typeface="Arial"/>
              </a:rPr>
              <a:t>ROUTER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9A09DB-4F02-4D81-B023-6C56AF95D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514600"/>
            <a:ext cx="13811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172738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72738"/>
                </a:solidFill>
                <a:latin typeface="Arial"/>
                <a:ea typeface="Arial"/>
                <a:cs typeface="Arial"/>
              </a:rPr>
              <a:t>Task-aware</a:t>
            </a:r>
          </a:p>
          <a:p xmlns:a="http://schemas.openxmlformats.org/drawingml/2006/main">
            <a:pPr algn="ctr">
              <a:defRPr sz="1725" b="1" i="0">
                <a:solidFill>
                  <a:srgbClr val="172738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72738"/>
                </a:solidFill>
                <a:latin typeface="Arial"/>
                <a:ea typeface="Arial"/>
                <a:cs typeface="Arial"/>
              </a:rPr>
              <a:t>model</a:t>
            </a:r>
          </a:p>
          <a:p xmlns:a="http://schemas.openxmlformats.org/drawingml/2006/main">
            <a:pPr algn="ctr">
              <a:defRPr sz="1725" b="1" i="0">
                <a:solidFill>
                  <a:srgbClr val="172738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72738"/>
                </a:solidFill>
                <a:latin typeface="Arial"/>
                <a:ea typeface="Arial"/>
                <a:cs typeface="Arial"/>
              </a:rPr>
              <a:t>selection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D989DB-85FE-4FCE-A4AD-FACE0AB5C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333750"/>
            <a:ext cx="1381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72738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2738"/>
                </a:solidFill>
                <a:latin typeface="Arial"/>
                <a:ea typeface="Arial"/>
                <a:cs typeface="Arial"/>
              </a:rPr>
              <a:t>127.0.0.1</a:t>
            </a:r>
          </a:p>
          <a:p xmlns:a="http://schemas.openxmlformats.org/drawingml/2006/main">
            <a:pPr algn="ctr">
              <a:defRPr sz="1200" b="0" i="0">
                <a:solidFill>
                  <a:srgbClr val="172738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2738"/>
                </a:solidFill>
                <a:latin typeface="Arial"/>
                <a:ea typeface="Arial"/>
                <a:cs typeface="Arial"/>
              </a:rPr>
              <a:t>load on demand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4E158C-AD1E-4A19-8842-2FAF8A6FC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114550"/>
            <a:ext cx="1762125" cy="1524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243B4D"/>
          </a:solidFill>
          <a:ln xmlns:a="http://schemas.openxmlformats.org/drawingml/2006/main" w="9525">
            <a:solidFill>
              <a:srgbClr val="4A637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E81CE7-6E9A-417C-8BB9-736BC4134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305050"/>
            <a:ext cx="1381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29A4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29A48"/>
                </a:solidFill>
                <a:latin typeface="Arial"/>
                <a:ea typeface="Arial"/>
                <a:cs typeface="Arial"/>
              </a:rPr>
              <a:t>LOCAL TOOLS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813839-A454-4D3F-BA72-B468D9294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619375"/>
            <a:ext cx="1428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OCR + vision</a:t>
            </a:r>
          </a:p>
          <a:p xmlns:a="http://schemas.openxmlformats.org/drawingml/2006/main">
            <a:pPr algn="l">
              <a:defRPr sz="12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Knowledge + citations</a:t>
            </a:r>
          </a:p>
          <a:p xmlns:a="http://schemas.openxmlformats.org/drawingml/2006/main">
            <a:pPr algn="l">
              <a:defRPr sz="12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Sandbox</a:t>
            </a:r>
          </a:p>
          <a:p xmlns:a="http://schemas.openxmlformats.org/drawingml/2006/main">
            <a:pPr algn="l">
              <a:defRPr sz="12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Document generators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3576B1-6EDF-48F5-9D22-5DA65FAEA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114550"/>
            <a:ext cx="1524000" cy="1524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2E8B8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2C7F4B-F6AD-40E1-B1F8-0D3D02CDA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305050"/>
            <a:ext cx="116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OUTPUTS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927903-76E3-49CD-8656-3E009A4D9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619375"/>
            <a:ext cx="11620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DOCX</a:t>
            </a:r>
          </a:p>
          <a:p xmlns:a="http://schemas.openxmlformats.org/drawingml/2006/main">
            <a:pPr algn="l"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XLSX</a:t>
            </a:r>
          </a:p>
          <a:p xmlns:a="http://schemas.openxmlformats.org/drawingml/2006/main">
            <a:pPr algn="l"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PPTX / PDF</a:t>
            </a:r>
          </a:p>
          <a:p xmlns:a="http://schemas.openxmlformats.org/drawingml/2006/main">
            <a:pPr algn="l"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Working code</a:t>
            </a:r>
          </a:p>
        </p:txBody>
      </p:sp>
      <p:cxnSp>
        <p:nvCxnSpPr>
          <p:cNvPr id="53" name=""/>
          <p:cNvCxnSpPr>
            <a:stCxn xmlns:a="http://schemas.openxmlformats.org/drawingml/2006/main" id="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324100" y="2876550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29A48"/>
            </a:solidFill>
            <a:prstDash val="solid"/>
            <a:tailEnd type="arrow" w="med" len="med"/>
          </a:ln>
        </p:spPr>
      </p:cxnSp>
      <p:cxnSp>
        <p:nvCxnSpPr>
          <p:cNvPr id="54" name=""/>
          <p:cNvCxnSpPr>
            <a:stCxn xmlns:a="http://schemas.openxmlformats.org/drawingml/2006/main" id="7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4572000" y="28765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29A48"/>
            </a:solidFill>
            <a:prstDash val="solid"/>
            <a:tailEnd type="arrow" w="med" len="med"/>
          </a:ln>
        </p:spPr>
      </p:cxnSp>
      <p:cxnSp>
        <p:nvCxnSpPr>
          <p:cNvPr id="55" name=""/>
          <p:cNvCxnSpPr>
            <a:stCxn xmlns:a="http://schemas.openxmlformats.org/drawingml/2006/main" id="11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6810375" y="28765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29A48"/>
            </a:solidFill>
            <a:prstDash val="solid"/>
            <a:tailEnd type="arrow" w="med" len="me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619671-8E56-43C1-91B2-88E3575DB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338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29A48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29A48"/>
                </a:solidFill>
                <a:latin typeface="Arial"/>
                <a:ea typeface="Arial"/>
                <a:cs typeface="Arial"/>
              </a:rPr>
              <a:t>MODEL ROLES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EE8BFC-3DCF-419C-BFBB-B70C4EC7A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57700"/>
            <a:ext cx="17621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Gemma 4 E4B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6CA8562-4A8B-468C-A6D6-5C963C80E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457700"/>
            <a:ext cx="1905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C8D3D8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C8D3D8"/>
                </a:solidFill>
                <a:latin typeface="Arial"/>
                <a:ea typeface="Arial"/>
                <a:cs typeface="Arial"/>
              </a:rPr>
              <a:t>Reasoning and vision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E9AAE16-CBC1-44D0-812D-656FE0FDA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72025"/>
            <a:ext cx="17621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PaddleOCR-VL 1.6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1185B14-9370-44EC-93D5-9489321E7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772025"/>
            <a:ext cx="1905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C8D3D8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C8D3D8"/>
                </a:solidFill>
                <a:latin typeface="Arial"/>
                <a:ea typeface="Arial"/>
                <a:cs typeface="Arial"/>
              </a:rPr>
              <a:t>Printed scan specialist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A394F25-BEDE-4EF4-A857-8B0DCF617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86350"/>
            <a:ext cx="17621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olmOCR 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98189C1-0D6B-4E53-A233-E4E45FAE4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86350"/>
            <a:ext cx="1905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C8D3D8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C8D3D8"/>
                </a:solidFill>
                <a:latin typeface="Arial"/>
                <a:ea typeface="Arial"/>
                <a:cs typeface="Arial"/>
              </a:rPr>
              <a:t>Handwriting fallback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CEB4DF9-ED8D-40BD-8446-A5613F38D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00675"/>
            <a:ext cx="17621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Nemotron 3 Nano 4B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ACD4A4E-32F3-4156-B6F3-C4F8543C6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400675"/>
            <a:ext cx="1905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C8D3D8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C8D3D8"/>
                </a:solidFill>
                <a:latin typeface="Arial"/>
                <a:ea typeface="Arial"/>
                <a:cs typeface="Arial"/>
              </a:rPr>
              <a:t>Long-document context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AEEEB89-8302-495E-9AAF-DAD1D2F16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7621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BGE-M3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B0C94EA-7F0F-423A-8E05-01AF1F661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715000"/>
            <a:ext cx="1905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C8D3D8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C8D3D8"/>
                </a:solidFill>
                <a:latin typeface="Arial"/>
                <a:ea typeface="Arial"/>
                <a:cs typeface="Arial"/>
              </a:rPr>
              <a:t>Local embeddings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290B3B3-2B8C-4E32-AE62-121CF55D4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038600"/>
            <a:ext cx="2247900" cy="1962150"/>
          </a:xfrm>
          <a:prstGeom xmlns:a="http://schemas.openxmlformats.org/drawingml/2006/main" prst="roundRect">
            <a:avLst>
              <a:gd name="adj" fmla="val 77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6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d7b6b0e62146f4"/>
          <a:stretch xmlns:a="http://schemas.openxmlformats.org/drawingml/2006/main"/>
        </p:blipFill>
        <p:spPr>
          <a:xfrm xmlns:a="http://schemas.openxmlformats.org/drawingml/2006/main">
            <a:off x="9391650" y="4267200"/>
            <a:ext cx="1943100" cy="1314450"/>
          </a:xfrm>
          <a:prstGeom xmlns:a="http://schemas.openxmlformats.org/drawingml/2006/main" prst="roundRect">
            <a:avLst>
              <a:gd name="adj" fmla="val 7792"/>
            </a:avLst>
          </a:prstGeom>
        </p:spPr>
      </p:pic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4B6F3CD-6CFD-424E-BBFF-283505FEF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5743575"/>
            <a:ext cx="19431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172738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72738"/>
                </a:solidFill>
                <a:latin typeface="Arial"/>
                <a:ea typeface="Arial"/>
                <a:cs typeface="Arial"/>
              </a:rPr>
              <a:t>Vision input</a:t>
            </a:r>
          </a:p>
          <a:p xmlns:a="http://schemas.openxmlformats.org/drawingml/2006/main">
            <a:pPr algn="ctr">
              <a:defRPr sz="1125" b="1" i="0">
                <a:solidFill>
                  <a:srgbClr val="172738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72738"/>
                </a:solidFill>
                <a:latin typeface="Arial"/>
                <a:ea typeface="Arial"/>
                <a:cs typeface="Arial"/>
              </a:rPr>
              <a:t>P&amp;ID-CDU4-1102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2344420-6C87-4C1E-835D-50E127B43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50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8A6DD7D-59CB-401A-B9DF-533800BB4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AFC0CA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AFC0CA"/>
                </a:solidFill>
                <a:latin typeface="Arial"/>
                <a:ea typeface="Arial"/>
                <a:cs typeface="Arial"/>
              </a:rPr>
              <a:t>SIH 2026  •  SIH26117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CA61547-0E69-4C6A-A34A-1BD4A914F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43675"/>
            <a:ext cx="1962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AFC0CA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AFC0CA"/>
                </a:solidFill>
                <a:latin typeface="Arial"/>
                <a:ea typeface="Arial"/>
                <a:cs typeface="Arial"/>
              </a:rPr>
              <a:t>ZeroLeak AI  •  03</a:t>
            </a:r>
          </a:p>
        </p:txBody>
      </p:sp>
    </p:spTree>
    <p:extLst>
      <p:ext uri="{BB962C8B-B14F-4D97-AF65-F5344CB8AC3E}">
        <p14:creationId xmlns:p14="http://schemas.microsoft.com/office/powerpoint/2010/main" val="97147512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B335164-0A27-41E1-8494-1EFDDB404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E8753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E8753B"/>
                </a:solidFill>
                <a:latin typeface="Arial"/>
                <a:ea typeface="Arial"/>
                <a:cs typeface="Arial"/>
              </a:rPr>
              <a:t>03  /  FEASIBILITY AND VIABILITY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AF3DEA-D0CE-4DFF-BFDF-B70076D91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857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F2A35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1F2A35"/>
                </a:solidFill>
                <a:latin typeface="Arial"/>
                <a:ea typeface="Arial"/>
                <a:cs typeface="Arial"/>
              </a:rPr>
              <a:t>Feasibility and viability are demonstrated on one workstation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5E91CA-8C61-4A81-A9BC-1945E5DF7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24000"/>
            <a:ext cx="800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66717B"/>
                </a:solidFill>
                <a:latin typeface="Arial"/>
                <a:ea typeface="Arial"/>
                <a:cs typeface="Arial"/>
              </a:rPr>
              <a:t>The prototype closes the core demo loop while keeping the remaining deployment gates visible.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973E35-83C6-461F-8C7C-FACD28436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288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E8753B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E8753B"/>
                </a:solidFill>
                <a:latin typeface="Arial"/>
                <a:ea typeface="Arial"/>
                <a:cs typeface="Arial"/>
              </a:rPr>
              <a:t>PROTOTYPE PROOF POINTS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D13E59-D318-4688-9E30-6312526A3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288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F1E8"/>
          </a:solidFill>
          <a:ln xmlns:a="http://schemas.openxmlformats.org/drawingml/2006/main" w="9525">
            <a:solidFill>
              <a:srgbClr val="2E7D5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87D731-3A59-49F0-94AD-7CC8232E8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28850"/>
            <a:ext cx="171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2E7D5B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E7D5B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CADCAC-18D2-4D0A-B5F2-76E779D5C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90750"/>
            <a:ext cx="2476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F2A35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F2A35"/>
                </a:solidFill>
                <a:latin typeface="Arial"/>
                <a:ea typeface="Arial"/>
                <a:cs typeface="Arial"/>
              </a:rPr>
              <a:t>Local runtime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A8429C-83B9-4D77-B232-38136561B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28875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6717B"/>
                </a:solidFill>
                <a:latin typeface="Arial"/>
                <a:ea typeface="Arial"/>
                <a:cs typeface="Arial"/>
              </a:rPr>
              <a:t>llama.cpp, Python, Node and pdftoppm are available locally.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047CDA-18EE-4CD8-82C8-F8007AC51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F1E8"/>
          </a:solidFill>
          <a:ln xmlns:a="http://schemas.openxmlformats.org/drawingml/2006/main" w="9525">
            <a:solidFill>
              <a:srgbClr val="2E7D5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0A6822-9002-4D93-A25B-56A5A4D2E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0"/>
            <a:ext cx="171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2E7D5B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E7D5B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4EA674-BE5A-45D4-99C1-5F2EF5F4D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09900"/>
            <a:ext cx="2476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F2A35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F2A35"/>
                </a:solidFill>
                <a:latin typeface="Arial"/>
                <a:ea typeface="Arial"/>
                <a:cs typeface="Arial"/>
              </a:rPr>
              <a:t>GPU profile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DB12E7-559C-4135-8F49-504DCC917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48025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6717B"/>
                </a:solidFill>
                <a:latin typeface="Arial"/>
                <a:ea typeface="Arial"/>
                <a:cs typeface="Arial"/>
              </a:rPr>
              <a:t>RTX 4060 Laptop GPU with 7,107 MiB usable and up to 2 resident models.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B3C80A-03BB-421D-B02D-4917937D1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671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F1E8"/>
          </a:solidFill>
          <a:ln xmlns:a="http://schemas.openxmlformats.org/drawingml/2006/main" w="9525">
            <a:solidFill>
              <a:srgbClr val="2E7D5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025C2C-AA71-40A8-A04C-9854876BE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67150"/>
            <a:ext cx="171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2E7D5B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E7D5B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9E133E-0CFB-4452-AB0F-2ABBDB818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29050"/>
            <a:ext cx="2476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F2A35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F2A35"/>
                </a:solidFill>
                <a:latin typeface="Arial"/>
                <a:ea typeface="Arial"/>
                <a:cs typeface="Arial"/>
              </a:rPr>
              <a:t>Real exporters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EF64C0-C76B-47F0-B293-364576B40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67175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6717B"/>
                </a:solidFill>
                <a:latin typeface="Arial"/>
                <a:ea typeface="Arial"/>
                <a:cs typeface="Arial"/>
              </a:rPr>
              <a:t>Word, Excel and PowerPoint packages are generated and reopened for checks.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08B391-A5A3-4E5E-8AD9-299C45D96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863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F1E8"/>
          </a:solidFill>
          <a:ln xmlns:a="http://schemas.openxmlformats.org/drawingml/2006/main" w="9525">
            <a:solidFill>
              <a:srgbClr val="2E7D5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06A2FD-980F-426B-8AA0-18F8D15F1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86300"/>
            <a:ext cx="171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2E7D5B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E7D5B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C1C5A2-0975-43D2-923D-CC2DFF1EC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648200"/>
            <a:ext cx="2476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F2A35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F2A35"/>
                </a:solidFill>
                <a:latin typeface="Arial"/>
                <a:ea typeface="Arial"/>
                <a:cs typeface="Arial"/>
              </a:rPr>
              <a:t>Demo corpus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407871-70C4-44CB-B5A5-952DA1A84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886325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6717B"/>
                </a:solidFill>
                <a:latin typeface="Arial"/>
                <a:ea typeface="Arial"/>
                <a:cs typeface="Arial"/>
              </a:rPr>
              <a:t>Synthetic and open-dataset scans and P&amp;IDs keep the rehearsal non-proprietary.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8A95C8A-69C9-4175-9391-7FB4DEA47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8288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E8753B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E8753B"/>
                </a:solidFill>
                <a:latin typeface="Arial"/>
                <a:ea typeface="Arial"/>
                <a:cs typeface="Arial"/>
              </a:rPr>
              <a:t>RISKS AND MITIGATIONS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93B60BC-4D19-43D8-92D4-77606E86A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190750"/>
            <a:ext cx="1809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F2A35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F2A35"/>
                </a:solidFill>
                <a:latin typeface="Arial"/>
                <a:ea typeface="Arial"/>
                <a:cs typeface="Arial"/>
              </a:rPr>
              <a:t>GPU contention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8944F1-0257-460A-95E4-AC07F4DB6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190750"/>
            <a:ext cx="2809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6717B"/>
                </a:solidFill>
                <a:latin typeface="Arial"/>
                <a:ea typeface="Arial"/>
                <a:cs typeface="Arial"/>
              </a:rPr>
              <a:t>On-demand loading plus idle eviction keeps the memory budget visible.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07CFE4D-E206-4188-ABB1-4A577DC29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638425"/>
            <a:ext cx="4714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E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1D3B4C-68C9-42B4-A6EE-20E978201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009900"/>
            <a:ext cx="1809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F2A35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F2A35"/>
                </a:solidFill>
                <a:latin typeface="Arial"/>
                <a:ea typeface="Arial"/>
                <a:cs typeface="Arial"/>
              </a:rPr>
              <a:t>Scanned pages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FB57D46-1C9E-4EFD-AC66-71CE6E335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009900"/>
            <a:ext cx="2809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6717B"/>
                </a:solidFill>
                <a:latin typeface="Arial"/>
                <a:ea typeface="Arial"/>
                <a:cs typeface="Arial"/>
              </a:rPr>
              <a:t>OCR specialist first, then vision fallback when confidence or handwriting requires it.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1F73E4D-9092-4548-87C2-748D0AD7C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457575"/>
            <a:ext cx="4714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E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5BDF569-4D93-4D9A-8408-1F461FE8F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829050"/>
            <a:ext cx="1809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F2A35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F2A35"/>
                </a:solidFill>
                <a:latin typeface="Arial"/>
                <a:ea typeface="Arial"/>
                <a:cs typeface="Arial"/>
              </a:rPr>
              <a:t>Unknown fields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A983234-7491-437B-855F-5D80A9387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829050"/>
            <a:ext cx="2809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6717B"/>
                </a:solidFill>
                <a:latin typeface="Arial"/>
                <a:ea typeface="Arial"/>
                <a:cs typeface="Arial"/>
              </a:rPr>
              <a:t>Preserve missing units, limits, owners and dates for human review.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1CB39C6-BE9F-44A9-87EF-162EF09B2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276725"/>
            <a:ext cx="4714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E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4503E29-CEFC-4599-B617-BAAA88E64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648200"/>
            <a:ext cx="1809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F2A35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F2A35"/>
                </a:solidFill>
                <a:latin typeface="Arial"/>
                <a:ea typeface="Arial"/>
                <a:cs typeface="Arial"/>
              </a:rPr>
              <a:t>Sovereignty proof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66AF7AB-84CD-46CB-8BF3-40209B6DB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648200"/>
            <a:ext cx="2809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6717B"/>
                </a:solidFill>
                <a:latin typeface="Arial"/>
                <a:ea typeface="Arial"/>
                <a:cs typeface="Arial"/>
              </a:rPr>
              <a:t>Pair the application guard with independent OS-level packet capture.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732E602-9FD8-4CBC-A952-BF5E465E5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095875"/>
            <a:ext cx="4714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E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5AADEE8-027E-498F-9B9C-D666E3038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19750"/>
            <a:ext cx="10848975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E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CC89D35-EC55-419F-BA67-2AF2DD2DB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43575"/>
            <a:ext cx="1038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7273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72738"/>
                </a:solidFill>
                <a:latin typeface="Arial"/>
                <a:ea typeface="Arial"/>
                <a:cs typeface="Arial"/>
              </a:rPr>
              <a:t>Deployment gate: warm up the target models and rehearse the capture interval on the venue machine before making a final sovereignty claim.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78340BC-AFB4-4C6B-8F42-4676B5B82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E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006A599-0AA8-4D85-A8E0-C002B007D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6717B"/>
                </a:solidFill>
                <a:latin typeface="Arial"/>
                <a:ea typeface="Arial"/>
                <a:cs typeface="Arial"/>
              </a:rPr>
              <a:t>SIH 2026  •  SIH26117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F5F312A-BDA3-462D-A163-14B3164FF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43675"/>
            <a:ext cx="1962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6717B"/>
                </a:solidFill>
                <a:latin typeface="Arial"/>
                <a:ea typeface="Arial"/>
                <a:cs typeface="Arial"/>
              </a:rPr>
              <a:t>ZeroLeak AI  •  04</a:t>
            </a:r>
          </a:p>
        </p:txBody>
      </p:sp>
    </p:spTree>
    <p:extLst>
      <p:ext uri="{BB962C8B-B14F-4D97-AF65-F5344CB8AC3E}">
        <p14:creationId xmlns:p14="http://schemas.microsoft.com/office/powerpoint/2010/main" val="136395810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727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6EBDF80-F50D-451D-BD68-5565B61B2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29A4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29A48"/>
                </a:solidFill>
                <a:latin typeface="Arial"/>
                <a:ea typeface="Arial"/>
                <a:cs typeface="Arial"/>
              </a:rPr>
              <a:t>04  /  IMPACT AND BENEFITS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FE2C6B-DA00-43BB-9743-7489F3580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857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Impact and benefits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B08268-B82B-4535-9F02-B42179EC9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24000"/>
            <a:ext cx="800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C8D3D8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C8D3D8"/>
                </a:solidFill>
                <a:latin typeface="Arial"/>
                <a:ea typeface="Arial"/>
                <a:cs typeface="Arial"/>
              </a:rPr>
              <a:t>Confidential industrial work becomes easier to complete without changing where the data lives.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80AE39-9B19-4330-B6DE-C93EA31A0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478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29A48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29A48"/>
                </a:solidFill>
                <a:latin typeface="Arial"/>
                <a:ea typeface="Arial"/>
                <a:cs typeface="Arial"/>
              </a:rPr>
              <a:t>EXPECTED VALUE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A5BCF6-3773-44DC-8C28-BC3D19D2D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09800"/>
            <a:ext cx="257175" cy="257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5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DEE5AC-3630-463F-9168-C1853DDAC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38375"/>
            <a:ext cx="2571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D4CAE5-A462-4DC8-9556-A95C01DEB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266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Engineers and inspectors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618338-9AEF-456B-BF03-61B929B88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47925"/>
            <a:ext cx="4857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C8D3D8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C8D3D8"/>
                </a:solidFill>
                <a:latin typeface="Arial"/>
                <a:ea typeface="Arial"/>
                <a:cs typeface="Arial"/>
              </a:rPr>
              <a:t>Extract findings from scans and P&amp;IDs while retaining the exact source page.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B1F77E-97A8-49E8-B5BD-E9CCD0FDD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86100"/>
            <a:ext cx="257175" cy="257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8B8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1E7D7B-77B5-4652-BB3D-E836C61B6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14675"/>
            <a:ext cx="2571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DED391-2327-4FA3-BC2F-FD343FFFF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67050"/>
            <a:ext cx="266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Approvers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D153A0-86BC-4C5D-BB0B-65105F845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24225"/>
            <a:ext cx="4857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C8D3D8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C8D3D8"/>
                </a:solidFill>
                <a:latin typeface="Arial"/>
                <a:ea typeface="Arial"/>
                <a:cs typeface="Arial"/>
              </a:rPr>
              <a:t>Receive a draft note and action tracker with unresolved fields visible before a human decision.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2CC300-38DD-49B4-A48E-16E1E47E3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62400"/>
            <a:ext cx="257175" cy="257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5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A77F5F-A4ED-40D5-8950-B657CC892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90975"/>
            <a:ext cx="2571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94F5B6-0C8D-4EDD-AB1D-894526BF9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43350"/>
            <a:ext cx="266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Knowledge teams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45C462-0654-4AE9-B07E-9D301F571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00525"/>
            <a:ext cx="4857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C8D3D8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C8D3D8"/>
                </a:solidFill>
                <a:latin typeface="Arial"/>
                <a:ea typeface="Arial"/>
                <a:cs typeface="Arial"/>
              </a:rPr>
              <a:t>Search manuals and SOPs locally with citations that point back to the retrieved evidence.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2001AF-099A-4449-86E0-FFA325C98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38700"/>
            <a:ext cx="257175" cy="257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B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757549-837A-4CF3-8447-B89180C93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67275"/>
            <a:ext cx="2571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891EC1-A6C6-4BEF-A6BD-987C419E6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19650"/>
            <a:ext cx="266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IT and security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6D8246-634A-4D89-957F-57CBB49B9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76825"/>
            <a:ext cx="4857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C8D3D8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C8D3D8"/>
                </a:solidFill>
                <a:latin typeface="Arial"/>
                <a:ea typeface="Arial"/>
                <a:cs typeface="Arial"/>
              </a:rPr>
              <a:t>Inspect model routing, tool calls, artifacts and network decisions in one workbench.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D09757-CA37-4C5D-9C01-22E57B16D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866900"/>
            <a:ext cx="4057650" cy="32004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a8a95149f246b2"/>
          <a:srcRect xmlns:a="http://schemas.openxmlformats.org/drawingml/2006/main" l="0" t="20588" r="0" b="2058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77150" y="2114550"/>
            <a:ext cx="3562350" cy="2095500"/>
          </a:xfrm>
          <a:prstGeom xmlns:a="http://schemas.openxmlformats.org/drawingml/2006/main" prst="roundRect">
            <a:avLst>
              <a:gd name="adj" fmla="val 5455"/>
            </a:avLst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B82BF5-A76B-4AD7-8970-26D8977CB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3624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7273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72738"/>
                </a:solidFill>
                <a:latin typeface="Arial"/>
                <a:ea typeface="Arial"/>
                <a:cs typeface="Arial"/>
              </a:rPr>
              <a:t>Operator context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8DBFCE3-FA2E-4E6B-AE58-62431508C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61010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6717B"/>
                </a:solidFill>
                <a:latin typeface="Arial"/>
                <a:ea typeface="Arial"/>
                <a:cs typeface="Arial"/>
              </a:rPr>
              <a:t>The value is a verified work package, not a chat reply.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D7F8C19-839E-4108-AC9F-9DF4440D4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102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50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13D9966-68AB-4838-940E-28FDF3BE6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62650"/>
            <a:ext cx="428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F29A48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F29A48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004E75B-AD2A-46F1-816C-204FBC029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6010275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C8D3D8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C8D3D8"/>
                </a:solidFill>
                <a:latin typeface="Arial"/>
                <a:ea typeface="Arial"/>
                <a:cs typeface="Arial"/>
              </a:rPr>
              <a:t>workstation-ready demo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33B294B-5719-4F8E-BB0D-707224B82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962650"/>
            <a:ext cx="428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F29A48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F29A48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5F1D4F7-983F-4564-9B3D-ABB395B52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6010275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C8D3D8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C8D3D8"/>
                </a:solidFill>
                <a:latin typeface="Arial"/>
                <a:ea typeface="Arial"/>
                <a:cs typeface="Arial"/>
              </a:rPr>
              <a:t>model roles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813D2DA-1DBF-4140-B9CF-59BF9DB36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962650"/>
            <a:ext cx="428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F29A48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F29A48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4AA4403-075C-453C-A8AD-FECAD479F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6010275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C8D3D8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C8D3D8"/>
                </a:solidFill>
                <a:latin typeface="Arial"/>
                <a:ea typeface="Arial"/>
                <a:cs typeface="Arial"/>
              </a:rPr>
              <a:t>artifact types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23D8EA2-E0A6-4599-8ED8-0C55C0369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01980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94A9B5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94A9B5"/>
                </a:solidFill>
                <a:latin typeface="Arial"/>
                <a:ea typeface="Arial"/>
                <a:cs typeface="Arial"/>
              </a:rPr>
              <a:t>prototype catalog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16302D6-45F9-4F53-92D2-4199EB0AF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50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CB48F42-7BEF-4A47-88F6-35F1CDACB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AFC0CA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AFC0CA"/>
                </a:solidFill>
                <a:latin typeface="Arial"/>
                <a:ea typeface="Arial"/>
                <a:cs typeface="Arial"/>
              </a:rPr>
              <a:t>SIH 2026  •  SIH26117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1015989-646C-4C0D-B09D-F4E478D49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43675"/>
            <a:ext cx="1962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AFC0CA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AFC0CA"/>
                </a:solidFill>
                <a:latin typeface="Arial"/>
                <a:ea typeface="Arial"/>
                <a:cs typeface="Arial"/>
              </a:rPr>
              <a:t>ZeroLeak AI  •  05</a:t>
            </a:r>
          </a:p>
        </p:txBody>
      </p:sp>
    </p:spTree>
    <p:extLst>
      <p:ext uri="{BB962C8B-B14F-4D97-AF65-F5344CB8AC3E}">
        <p14:creationId xmlns:p14="http://schemas.microsoft.com/office/powerpoint/2010/main" val="141840549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A1C196C-6A9C-4357-BFC0-5F642BC35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E8753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E8753B"/>
                </a:solidFill>
                <a:latin typeface="Arial"/>
                <a:ea typeface="Arial"/>
                <a:cs typeface="Arial"/>
              </a:rPr>
              <a:t>05  /  RESEARCH AND REFERENCES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C4A3D1-29F6-4EDE-8F40-DEF690BDD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857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F2A35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1F2A35"/>
                </a:solidFill>
                <a:latin typeface="Arial"/>
                <a:ea typeface="Arial"/>
                <a:cs typeface="Arial"/>
              </a:rPr>
              <a:t>Research and references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11A766-F822-4125-ADA9-FBB6CA9CC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24000"/>
            <a:ext cx="800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66717B"/>
                </a:solidFill>
                <a:latin typeface="Arial"/>
                <a:ea typeface="Arial"/>
                <a:cs typeface="Arial"/>
              </a:rPr>
              <a:t>The deck follows the SIH idea-submission order and separates public sources from local product evidence.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4F667B-5AC7-47D7-9085-AFE8E0372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669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E8753B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E8753B"/>
                </a:solidFill>
                <a:latin typeface="Arial"/>
                <a:ea typeface="Arial"/>
                <a:cs typeface="Arial"/>
              </a:rPr>
              <a:t>FORMAT FOLLOWED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9417B0-D8E2-488C-ABFC-5408C24F3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28850"/>
            <a:ext cx="219075" cy="219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B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7AD032-5100-4C05-89F9-A6D34F932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57425"/>
            <a:ext cx="2190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E4D88E-4D11-4C1F-9D7A-AF8E2F455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098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F2A35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F2A35"/>
                </a:solidFill>
                <a:latin typeface="Arial"/>
                <a:ea typeface="Arial"/>
                <a:cs typeface="Arial"/>
              </a:rPr>
              <a:t>Title page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B39A35-B39F-450A-AD7D-416331972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76525"/>
            <a:ext cx="219075" cy="219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B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62C7A7-97DD-4F2D-A028-2628B1AB7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05100"/>
            <a:ext cx="2190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C106DF-768D-4D52-9BBB-F67F9A664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5747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F2A35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F2A35"/>
                </a:solidFill>
                <a:latin typeface="Arial"/>
                <a:ea typeface="Arial"/>
                <a:cs typeface="Arial"/>
              </a:rPr>
              <a:t>Proposed solution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294333-CA33-4A40-B9D6-B4D9E5499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24200"/>
            <a:ext cx="219075" cy="219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B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77B4A7-6872-4FAA-9FBF-5677C7CDE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52775"/>
            <a:ext cx="2190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1C6C92-5027-438F-A3C6-337898FC2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051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F2A35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F2A35"/>
                </a:solidFill>
                <a:latin typeface="Arial"/>
                <a:ea typeface="Arial"/>
                <a:cs typeface="Arial"/>
              </a:rPr>
              <a:t>Technical approach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43151A-EF5C-44AA-A291-8C483DF26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71875"/>
            <a:ext cx="219075" cy="219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B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EE1B6C-B9EA-4AF4-B68B-9F274DCFB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00450"/>
            <a:ext cx="2190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6263B7-1A70-4D47-A26F-C31E37E3B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5282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F2A35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F2A35"/>
                </a:solidFill>
                <a:latin typeface="Arial"/>
                <a:ea typeface="Arial"/>
                <a:cs typeface="Arial"/>
              </a:rPr>
              <a:t>Feasibility and viability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D5DF62-7394-48F5-BA93-26221B910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19550"/>
            <a:ext cx="219075" cy="219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B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4A9CBE-B4B1-4C1B-934D-BACC35390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48125"/>
            <a:ext cx="2190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205B08-6D97-4EF9-AEA7-E2BF6E020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005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F2A35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F2A35"/>
                </a:solidFill>
                <a:latin typeface="Arial"/>
                <a:ea typeface="Arial"/>
                <a:cs typeface="Arial"/>
              </a:rPr>
              <a:t>Impact and benefits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848684-2D77-4A48-8E6B-0712252C2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67225"/>
            <a:ext cx="219075" cy="219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8B8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ED9EF8-0C1E-4F6E-B24A-CB00B6121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95800"/>
            <a:ext cx="2190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F230F8-4025-4B4E-B16D-1D51BC8EF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4817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F2A35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F2A35"/>
                </a:solidFill>
                <a:latin typeface="Arial"/>
                <a:ea typeface="Arial"/>
                <a:cs typeface="Arial"/>
              </a:rPr>
              <a:t>Research and references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A92F989-590B-4265-BE01-F623772D5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885950"/>
            <a:ext cx="9525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E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10A8AE2-1E4F-41B1-93CF-AD0FD9753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8669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E8753B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E8753B"/>
                </a:solidFill>
                <a:latin typeface="Arial"/>
                <a:ea typeface="Arial"/>
                <a:cs typeface="Arial"/>
              </a:rPr>
              <a:t>PUBLIC SOURCES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BFA638C-6DD9-44E6-BC94-1C2DB1501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209800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F2A35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F2A35"/>
                </a:solidFill>
                <a:latin typeface="Arial"/>
                <a:ea typeface="Arial"/>
                <a:cs typeface="Arial"/>
              </a:rPr>
              <a:t>SIH 2026 problem statement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55AB471-3D75-4F2C-B155-6F709EF2B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457450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6717B"/>
                </a:solidFill>
                <a:latin typeface="Arial"/>
                <a:ea typeface="Arial"/>
                <a:cs typeface="Arial"/>
              </a:rPr>
              <a:t>sih.gov.in/sih2026PS</a:t>
            </a:r>
          </a:p>
          <a:p xmlns:a="http://schemas.openxmlformats.org/drawingml/2006/main">
            <a:pPr algn="l">
              <a:defRPr sz="1275" b="0" i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6717B"/>
                </a:solidFill>
                <a:latin typeface="Arial"/>
                <a:ea typeface="Arial"/>
                <a:cs typeface="Arial"/>
              </a:rPr>
              <a:t>SIH26117 metadata and expected solution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6CD0E82-5AC3-4966-A89F-536132D4B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067050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F2A35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F2A35"/>
                </a:solidFill>
                <a:latin typeface="Arial"/>
                <a:ea typeface="Arial"/>
                <a:cs typeface="Arial"/>
              </a:rPr>
              <a:t>SIH idea presentation format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EA28A7C-0A84-43B7-AFAB-CA239C731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314700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6717B"/>
                </a:solidFill>
                <a:latin typeface="Arial"/>
                <a:ea typeface="Arial"/>
                <a:cs typeface="Arial"/>
              </a:rPr>
              <a:t>cmrit.ac.in/.../SIH2024_IDEA_Presentation_Format.pdf</a:t>
            </a:r>
          </a:p>
          <a:p xmlns:a="http://schemas.openxmlformats.org/drawingml/2006/main">
            <a:pPr algn="l">
              <a:defRPr sz="1275" b="0" i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6717B"/>
                </a:solidFill>
                <a:latin typeface="Arial"/>
                <a:ea typeface="Arial"/>
                <a:cs typeface="Arial"/>
              </a:rPr>
              <a:t>Six-slide order and content pointers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AB822D5-8A86-4E40-9EA0-F16717093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9243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E8753B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E8753B"/>
                </a:solidFill>
                <a:latin typeface="Arial"/>
                <a:ea typeface="Arial"/>
                <a:cs typeface="Arial"/>
              </a:rPr>
              <a:t>LOCAL PRODUCT EVIDENCE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6E90E0A-A512-41C3-9243-FF3A3983E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267200"/>
            <a:ext cx="5143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F2A35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F2A35"/>
                </a:solidFill>
                <a:latin typeface="Arial"/>
                <a:ea typeface="Arial"/>
                <a:cs typeface="Arial"/>
              </a:rPr>
              <a:t>README.md  •  MRPL_WORKFLOWS.md</a:t>
            </a:r>
          </a:p>
          <a:p xmlns:a="http://schemas.openxmlformats.org/drawingml/2006/main">
            <a:pPr algn="l">
              <a:defRPr sz="1275" b="0" i="0">
                <a:solidFill>
                  <a:srgbClr val="1F2A35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F2A35"/>
                </a:solidFill>
                <a:latin typeface="Arial"/>
                <a:ea typeface="Arial"/>
                <a:cs typeface="Arial"/>
              </a:rPr>
              <a:t>Scoped Models, Readiness, Network, Artifacts and Audit panels</a:t>
            </a:r>
          </a:p>
          <a:p xmlns:a="http://schemas.openxmlformats.org/drawingml/2006/main">
            <a:pPr algn="l">
              <a:defRPr sz="1275" b="0" i="0">
                <a:solidFill>
                  <a:srgbClr val="1F2A35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F2A35"/>
                </a:solidFill>
                <a:latin typeface="Arial"/>
                <a:ea typeface="Arial"/>
                <a:cs typeface="Arial"/>
              </a:rPr>
              <a:t>Synthetic inspection scans and open-dataset P&amp;ID samples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ADDD192-033F-4C3F-A7C7-FEAE29E61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5353050"/>
            <a:ext cx="5143500" cy="57150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727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28A6B81-0073-4415-BCA8-F4B190C97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54959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29A4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29A48"/>
                </a:solidFill>
                <a:latin typeface="Arial"/>
                <a:ea typeface="Arial"/>
                <a:cs typeface="Arial"/>
              </a:rPr>
              <a:t>Submission note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FC61F1D-93F6-47B9-8F8B-160281793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495925"/>
            <a:ext cx="3181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Replace [TEAM NAME] and [TEAM ID] before upload. Export to PDF if the portal requires it.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2869E23-39A1-4C19-B104-EFA9DB9A3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E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7513651-3A1E-450E-B2F9-41D5BF419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6717B"/>
                </a:solidFill>
                <a:latin typeface="Arial"/>
                <a:ea typeface="Arial"/>
                <a:cs typeface="Arial"/>
              </a:rPr>
              <a:t>SIH 2026  •  SIH26117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2A1F3C3-6F71-4E56-99F8-F55B781ED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43675"/>
            <a:ext cx="1962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6717B"/>
                </a:solidFill>
                <a:latin typeface="Arial"/>
                <a:ea typeface="Arial"/>
                <a:cs typeface="Arial"/>
              </a:rPr>
              <a:t>ZeroLeak AI  •  06</a:t>
            </a:r>
          </a:p>
        </p:txBody>
      </p:sp>
    </p:spTree>
    <p:extLst>
      <p:ext uri="{BB962C8B-B14F-4D97-AF65-F5344CB8AC3E}">
        <p14:creationId xmlns:p14="http://schemas.microsoft.com/office/powerpoint/2010/main" val="113847207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2026-09-07T16:06:57.1160000Z</dcterms:created>
  <dcterms:modified xsi:type="dcterms:W3CDTF">2026-09-07T16:06:57.1160000Z</dcterms:modified>
</coreProperties>
</file>