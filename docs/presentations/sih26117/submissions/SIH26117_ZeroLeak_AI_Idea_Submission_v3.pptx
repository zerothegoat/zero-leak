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29369907a4916" /><Relationship Type="http://schemas.openxmlformats.org/officeDocument/2006/relationships/extended-properties" Target="/docProps/app.xml" Id="R8acc4da563704f7f" /><Relationship Type="http://schemas.openxmlformats.org/officeDocument/2006/relationships/officeDocument" Target="/ppt/presentation.xml" Id="R5dfeff19a9be4d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264730784479b"/>
  </p:sldMasterIdLst>
  <p:notesMasterIdLst>
    <p:notesMasterId xmlns:r="http://schemas.openxmlformats.org/officeDocument/2006/relationships" r:id="Rc29cb6db1f5446c1"/>
  </p:notesMasterIdLst>
  <p:sldIdLst>
    <p:sldId xmlns:r="http://schemas.openxmlformats.org/officeDocument/2006/relationships" id="256" r:id="R155c817d129d45bd"/>
    <p:sldId xmlns:r="http://schemas.openxmlformats.org/officeDocument/2006/relationships" id="257" r:id="R99f8429517ca4dbb"/>
    <p:sldId xmlns:r="http://schemas.openxmlformats.org/officeDocument/2006/relationships" id="258" r:id="R5f9d2b95c6e7494e"/>
    <p:sldId xmlns:r="http://schemas.openxmlformats.org/officeDocument/2006/relationships" id="259" r:id="Re15ad1e936064269"/>
    <p:sldId xmlns:r="http://schemas.openxmlformats.org/officeDocument/2006/relationships" id="260" r:id="R50f754936c2d442e"/>
    <p:sldId xmlns:r="http://schemas.openxmlformats.org/officeDocument/2006/relationships" id="261" r:id="R5ac120e372d9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ac1ee821fb46d5" /><Relationship Type="http://schemas.openxmlformats.org/officeDocument/2006/relationships/slideMaster" Target="/ppt/slideMasters/slideMaster1.xml" Id="R18c264730784479b" /><Relationship Type="http://schemas.openxmlformats.org/officeDocument/2006/relationships/notesMaster" Target="/ppt/notesMasters/notesMaster1.xml" Id="Rc29cb6db1f5446c1" /><Relationship Type="http://schemas.openxmlformats.org/officeDocument/2006/relationships/presProps" Target="/ppt/presProps.xml" Id="R3f53759f66714e72" /><Relationship Type="http://schemas.openxmlformats.org/officeDocument/2006/relationships/tableStyles" Target="/ppt/tableStyles.xml" Id="R969e5fbe62f8489e" /><Relationship Type="http://schemas.openxmlformats.org/officeDocument/2006/relationships/slide" Target="/ppt/slides/slide1.xml" Id="R155c817d129d45bd" /><Relationship Type="http://schemas.openxmlformats.org/officeDocument/2006/relationships/slide" Target="/ppt/slides/slide2.xml" Id="R99f8429517ca4dbb" /><Relationship Type="http://schemas.openxmlformats.org/officeDocument/2006/relationships/slide" Target="/ppt/slides/slide3.xml" Id="R5f9d2b95c6e7494e" /><Relationship Type="http://schemas.openxmlformats.org/officeDocument/2006/relationships/slide" Target="/ppt/slides/slide4.xml" Id="Re15ad1e936064269" /><Relationship Type="http://schemas.openxmlformats.org/officeDocument/2006/relationships/slide" Target="/ppt/slides/slide5.xml" Id="R50f754936c2d442e" /><Relationship Type="http://schemas.openxmlformats.org/officeDocument/2006/relationships/slide" Target="/ppt/slides/slide6.xml" Id="R5ac120e372d9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34b0b636a841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e72c6f029847c2" /><Relationship Type="http://schemas.openxmlformats.org/officeDocument/2006/relationships/notesMaster" Target="/ppt/notesMasters/notesMaster1.xml" Id="Rd23b5d5eaaf74d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413a010834583" /><Relationship Type="http://schemas.openxmlformats.org/officeDocument/2006/relationships/notesMaster" Target="/ppt/notesMasters/notesMaster1.xml" Id="R8565f038a2454c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add3eed534a1d" /><Relationship Type="http://schemas.openxmlformats.org/officeDocument/2006/relationships/notesMaster" Target="/ppt/notesMasters/notesMaster1.xml" Id="R74efaa33a7c14d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39f0ee9ec94920" /><Relationship Type="http://schemas.openxmlformats.org/officeDocument/2006/relationships/notesMaster" Target="/ppt/notesMasters/notesMaster1.xml" Id="R15fa1e8f9ca1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eeb0532fb746da" /><Relationship Type="http://schemas.openxmlformats.org/officeDocument/2006/relationships/notesMaster" Target="/ppt/notesMasters/notesMaster1.xml" Id="R8f70f51cfcff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577996bae84610" /><Relationship Type="http://schemas.openxmlformats.org/officeDocument/2006/relationships/notesMaster" Target="/ppt/notesMasters/notesMaster1.xml" Id="Rad26f12bbae84b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metadata: SIH26117, S.No. 117, title, MRPL, category Software and theme Smart Automation.</a:t>
            </a:r>
          </a:p>
          <a:p xmlns:a="http://schemas.openxmlformats.org/drawingml/2006/main">
            <a:r>
              <a:t>Primary source: https://sih.gov.in/sih2026PS</a:t>
            </a:r>
          </a:p>
          <a:p xmlns:a="http://schemas.openxmlformats.org/drawingml/2006/main">
            <a:r>
              <a:t>Cross-check: https://github.com/jeevansai-hub/SIH-2026-/blob/main/ps_2026/SIH26117.md</a:t>
            </a:r>
          </a:p>
          <a:p xmlns:a="http://schemas.openxmlformats.org/drawingml/2006/main">
            <a:r>
              <a:t>Project source: C:/Users/harih/OneDrive/Documents/ocr/zero-leak-app/README.md</a:t>
            </a:r>
          </a:p>
          <a:p xmlns:a="http://schemas.openxmlformats.org/drawingml/2006/main">
            <a:r>
              <a:t>Replace [TEAM NAME] and [TEAM ID] with portal-registered values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claims are based on the SIH26117 description, which calls for a self-hosted, air-gapped workbench that supports multiple open-weight models, local tools, multimodal inputs and real deliverables.</a:t>
            </a:r>
          </a:p>
          <a:p xmlns:a="http://schemas.openxmlformats.org/drawingml/2006/main">
            <a:r>
              <a:t>Product evidence: C:/Users/harih/OneDrive/Documents/ocr/zero-leak-app/README.md and MRPL_WORKFLOWS.md.</a:t>
            </a:r>
          </a:p>
          <a:p xmlns:a="http://schemas.openxmlformats.org/drawingml/2006/main">
            <a:r>
              <a:t>Visual asset: synthetic inspection note at C:/Users/harih/OneDrive/Documents/ocr/zero-leak-app/examples/mrpl-demo/turbine-cdu4/turbine-reports/scan-inspection-note.png.</a:t>
            </a:r>
          </a:p>
          <a:p xmlns:a="http://schemas.openxmlformats.org/drawingml/2006/main">
            <a:r>
              <a:t>The sample corpus is synthetic and contains no proprietary MRPL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approach reflects the local model registry and router implementation.</a:t>
            </a:r>
          </a:p>
          <a:p xmlns:a="http://schemas.openxmlformats.org/drawingml/2006/main">
            <a:r>
              <a:t>Source: C:/Users/harih/OneDrive/Documents/ocr/zero-leak-app/src/services/registry.ts</a:t>
            </a:r>
          </a:p>
          <a:p xmlns:a="http://schemas.openxmlformats.org/drawingml/2006/main">
            <a:r>
              <a:t>Source: C:/Users/harih/OneDrive/Documents/ocr/zero-leak-app/src-tauri/src/router.rs</a:t>
            </a:r>
          </a:p>
          <a:p xmlns:a="http://schemas.openxmlformats.org/drawingml/2006/main">
            <a:r>
              <a:t>The workbench binds the model router to 127.0.0.1 and routes OCR, vision, embeddings, reasoning and coding to different local model roles.</a:t>
            </a:r>
          </a:p>
          <a:p xmlns:a="http://schemas.openxmlformats.org/drawingml/2006/main">
            <a:r>
              <a:t>Visual asset: synthetic P&amp;ID at C:/Users/harih/OneDrive/Documents/ocr/zero-leak-app/examples/mrpl-demo/turbine-cdu4/turbine-reports/PID-CDU4-1102.png.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proof points come from the live local Workflows → Readiness screen and the project workflow guide.</a:t>
            </a:r>
          </a:p>
          <a:p xmlns:a="http://schemas.openxmlformats.org/drawingml/2006/main">
            <a:r>
              <a:t>Sources: C:/Users/harih/OneDrive/Documents/ocr/zero-leak-app/MRPL_WORKFLOWS.md and C:/Users/harih/OneDrive/Documents/ocr/zero-leak-app/.uifix/readiness-result.json.</a:t>
            </a:r>
          </a:p>
          <a:p xmlns:a="http://schemas.openxmlformats.org/drawingml/2006/main">
            <a:r>
              <a:t>The GPU number is a development-machine measurement from the local app UI, not a universal deployment requirement.</a:t>
            </a:r>
          </a:p>
          <a:p xmlns:a="http://schemas.openxmlformats.org/drawingml/2006/main">
            <a:r>
              <a:t>The project documentation explicitly says application network decisions are not a packet capture, so the deck preserves the independent OS capture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impact is derived from the SIH26117 expected solution and from the implemented workflow surfaces.</a:t>
            </a:r>
          </a:p>
          <a:p xmlns:a="http://schemas.openxmlformats.org/drawingml/2006/main">
            <a:r>
              <a:t>Product sources: C:/Users/harih/OneDrive/Documents/ocr/zero-leak-app/README.md, MRPL_WORKFLOWS.md and the live Artifacts, Audit and Knowledge panels.</a:t>
            </a:r>
          </a:p>
          <a:p xmlns:a="http://schemas.openxmlformats.org/drawingml/2006/main">
            <a:r>
              <a:t>The counts shown are prototype catalog facts: five named model roles in the registry and seven supported artifact kinds in the local types and artifact implementation.</a:t>
            </a:r>
          </a:p>
          <a:p xmlns:a="http://schemas.openxmlformats.org/drawingml/2006/main">
            <a:r>
              <a:t>Visual asset: synthetic gauge photograph at C:/Users/harih/OneDrive/Documents/ocr/zero-leak-app/examples/mrpl-demo/turbine-cdu4/turbine-reports/gauge-photo.jpg.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 used in the deck:</a:t>
            </a:r>
          </a:p>
          <a:p xmlns:a="http://schemas.openxmlformats.org/drawingml/2006/main">
            <a:r>
              <a:t>1) https://sih.gov.in/sih2026PS</a:t>
            </a:r>
          </a:p>
          <a:p xmlns:a="http://schemas.openxmlformats.org/drawingml/2006/main">
            <a:r>
              <a:t>2) https://github.com/jeevansai-hub/SIH-2026-/blob/main/ps_2026/SIH26117.md</a:t>
            </a:r>
          </a:p>
          <a:p xmlns:a="http://schemas.openxmlformats.org/drawingml/2006/main">
            <a:r>
              <a:t>3) https://www.cmrit.ac.in/wp-content/uploads/2024/10/SIH2024_IDEA_Presentation_Format.pdf</a:t>
            </a:r>
          </a:p>
          <a:p xmlns:a="http://schemas.openxmlformats.org/drawingml/2006/main">
            <a:r>
              <a:t>Local sources used in the deck:</a:t>
            </a:r>
          </a:p>
          <a:p xmlns:a="http://schemas.openxmlformats.org/drawingml/2006/main">
            <a:r>
              <a:t>C:/Users/harih/OneDrive/Documents/ocr/zero-leak-app/README.md</a:t>
            </a:r>
          </a:p>
          <a:p xmlns:a="http://schemas.openxmlformats.org/drawingml/2006/main">
            <a:r>
              <a:t>C:/Users/harih/OneDrive/Documents/ocr/zero-leak-app/MRPL_WORKFLOWS.md</a:t>
            </a:r>
          </a:p>
          <a:p xmlns:a="http://schemas.openxmlformats.org/drawingml/2006/main">
            <a:r>
              <a:t>C:/Users/harih/OneDrive/Documents/ocr/zero-leak-app/src/services/registry.ts</a:t>
            </a:r>
          </a:p>
          <a:p xmlns:a="http://schemas.openxmlformats.org/drawingml/2006/main">
            <a:r>
              <a:t>C:/Users/harih/OneDrive/Documents/ocr/zero-leak-app/examples/mrpl-demo/README.md</a:t>
            </a:r>
          </a:p>
          <a:p xmlns:a="http://schemas.openxmlformats.org/drawingml/2006/main">
            <a:r>
              <a:t>The local demo corpus is synthetic/open-dataset material, not proprietary industrial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3ae7dd0904c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bcac0f6ee4ca0" /><Relationship Type="http://schemas.openxmlformats.org/officeDocument/2006/relationships/slideLayout" Target="/ppt/slideLayouts/slideLayout1.xml" Id="Rca88ccea1f8b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8ccea1f8b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02f6839244aea" /><Relationship Type="http://schemas.openxmlformats.org/officeDocument/2006/relationships/notesSlide" Target="/ppt/notesSlides/notesSlide1.xml" Id="Ra60e33d1b65f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80c019ea24fed" /><Relationship Type="http://schemas.openxmlformats.org/officeDocument/2006/relationships/image" Target="/ppt/media/image.png" Id="R90fe5affa8b74f29" /><Relationship Type="http://schemas.openxmlformats.org/officeDocument/2006/relationships/notesSlide" Target="/ppt/notesSlides/notesSlide2.xml" Id="R5c97e211adcd4d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a48b23014488" /><Relationship Type="http://schemas.openxmlformats.org/officeDocument/2006/relationships/image" Target="/ppt/media/image2.png" Id="R9b69773c1157470a" /><Relationship Type="http://schemas.openxmlformats.org/officeDocument/2006/relationships/notesSlide" Target="/ppt/notesSlides/notesSlide3.xml" Id="R4ff31fcaf1c1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c32b8dfd342ff" /><Relationship Type="http://schemas.openxmlformats.org/officeDocument/2006/relationships/notesSlide" Target="/ppt/notesSlides/notesSlide4.xml" Id="Rab8610da59aa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4902770c643c5" /><Relationship Type="http://schemas.openxmlformats.org/officeDocument/2006/relationships/image" Target="/ppt/media/image.jpeg" Id="R4d6245de03154cd6" /><Relationship Type="http://schemas.openxmlformats.org/officeDocument/2006/relationships/notesSlide" Target="/ppt/notesSlides/notesSlide5.xml" Id="R8b8057b0d8a04f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25836d6934c1f" /><Relationship Type="http://schemas.openxmlformats.org/officeDocument/2006/relationships/notesSlide" Target="/ppt/notesSlides/notesSlide6.xml" Id="R3c4d3928678847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6AB35-44A0-46D8-80C8-EDCBA78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18E14-CB75-4306-855E-3B3DA308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E3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E3E7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2AF51-112F-4B39-AE3F-3B9C549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"/>
            <a:ext cx="2895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60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960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3BD47-7547-47AE-9FB4-5C2E0C4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SOVEREIGN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ON-PREMISE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1F6C0-29A4-4AFE-842C-A9F11A6F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ZeroLeak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8BA35-4575-4D31-8882-2F5F229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0D9D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0D9DD"/>
                </a:solidFill>
                <a:latin typeface="Arial"/>
                <a:ea typeface="Arial"/>
                <a:cs typeface="Arial"/>
              </a:rPr>
              <a:t>A local workbench for confidential industrial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9E67D-C6C3-4539-8233-F06DDE9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F7C56-287B-4034-AC3D-08F76FA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7967C-2CC0-4C56-99F9-A3993E46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SIH26117  |  Sovereign On-Premise Agentic AI Workbench using Open-Weight Multimodal LLMs for Confidential Industrial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19A15-D824-4883-85E0-546A9A3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7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7CE"/>
                </a:solidFill>
                <a:latin typeface="Arial"/>
                <a:ea typeface="Arial"/>
                <a:cs typeface="Arial"/>
              </a:rPr>
              <a:t>Mangalore Refinery and Petrochemicals Limited (MRPL)  •  Smart Automation  • 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B7DFA-3F92-4386-8DA3-2D4F71B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[TEAM NAME]   •   Team ID: [TEAM ID]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1FF1C-C4E9-4679-9A49-60B00B25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Idea submission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428C3-0D46-488D-9224-29DEF14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53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evidence from a local ZeroLeak AI workstation</a:t>
            </a:r>
          </a:p>
        </p:txBody>
      </p:sp>
    </p:spTree>
    <p:extLst>
      <p:ext uri="{BB962C8B-B14F-4D97-AF65-F5344CB8AC3E}">
        <p14:creationId xmlns:p14="http://schemas.microsoft.com/office/powerpoint/2010/main" val="93060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BAB40-3F85-4437-8B8B-A50697B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01  / 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DEE5-D196-4D42-88A9-9478CB8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 private agent for work that cannot leave the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E9195-E482-4939-AEA4-AB0DD9BE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workbench keeps documents local while still acting like a useful task partner.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3D76-E662-433A-8AC6-A69B1BFC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72C7F-D262-47DB-BCFA-4104F90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4B285-0C75-459D-A8D0-ABE914D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Self-hosted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C2E29-65CA-4D69-971D-13102419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Runs on the organization’s own workstation or GPU server. Public cloud assistants never sit in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79D4D-86A7-4D6F-81B4-2464B8BF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D5B95-F5BD-4C32-BA57-D5FFFE41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599B6-A0CC-4E4A-A328-30C62CB5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Task-aware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6AEFD-85FF-4CFF-883D-AE96BDE2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Routes coding, long-document, OCR and vision work to the right local model on demand.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FB232-5103-49BC-ADBF-B446EE6E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C41F5-3A83-4DAB-ACC9-CB2122A6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6E9C1-FEA1-437E-BD65-2067D278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1CC11-6859-4405-8A65-72A237D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Reads files, searches local knowledge, runs sandboxed tools and creates reviewable deliverables.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00E9C-6000-4975-91A5-22CBC71E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238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39C65-94A1-4161-8B44-1BE4D336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is a work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20FA8-562C-4276-B04B-229E3C35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Source citations  +  approval note  +  action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516C6-77A7-4FC2-96E2-0F753E86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8768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e5affa8b74f29"/>
          <a:stretch xmlns:a="http://schemas.openxmlformats.org/drawingml/2006/main"/>
        </p:blipFill>
        <p:spPr>
          <a:xfrm xmlns:a="http://schemas.openxmlformats.org/drawingml/2006/main">
            <a:off x="7870344" y="1952625"/>
            <a:ext cx="2356813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2876C-F5A9-4B29-BC40-8AD16D27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76875"/>
            <a:ext cx="426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51F11-5A01-41E7-8EE4-85E3E20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396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8B8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8B84"/>
                </a:solidFill>
                <a:latin typeface="Arial"/>
                <a:ea typeface="Arial"/>
                <a:cs typeface="Arial"/>
              </a:rPr>
              <a:t>IMAGE-ONLY PAGE  •  OCR + EVIDENCE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7C0A9-9A13-4A99-9DE5-3B78068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3CAE4-4D32-4B48-BC4A-D73CF59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D5F89-77A1-4EB9-A39C-2AECF879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02</a:t>
            </a:r>
          </a:p>
        </p:txBody>
      </p:sp>
    </p:spTree>
    <p:extLst>
      <p:ext uri="{BB962C8B-B14F-4D97-AF65-F5344CB8AC3E}">
        <p14:creationId xmlns:p14="http://schemas.microsoft.com/office/powerpoint/2010/main" val="397852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42604-8023-4BEE-855B-AAF810AE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02  /  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5E39-2B75-452F-A652-07FFD867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models, one controlled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4E962-767E-42AF-BD6D-F41109C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Route the task, ground it in local evidence, act through tools and verify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088B3-7D9B-4603-850B-7FA69EB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0" cy="19050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908DF-EB07-473D-9754-6FC9A9C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88D3-071B-4E64-A342-1EAAB1EF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P&amp;IDs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and spreadsheets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SOPs and manuals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65316-8939-406E-B300-150BD068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1809750" cy="19050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98B57-07F3-4F43-81C9-D39E12D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8A53A-2A03-472B-BD25-1C150E5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8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Task-aware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B2AE5-B613-47A3-BCB8-EACC8F6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127.0.0.1</a:t>
            </a:r>
          </a:p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load on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E012-B578-4905-AC89-1500F5D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762125" cy="190500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4C158-540C-43CA-AA1A-FF1285AD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LOCAL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1E698-449F-477F-95F2-5ABE219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OCR + vision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+ citations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Sandbox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generators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5DB46-A07F-4BFB-AF61-622C6FB6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1524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A5CD4-5F18-497C-9DD2-98FAE4DB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8EEC4-22F6-450A-BBF1-8A09BDD2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116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XLSX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PPTX / PDF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code</a:t>
            </a:r>
          </a:p>
        </p:txBody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324100" y="2914650"/>
            <a:ext cx="4381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2914650"/>
            <a:ext cx="4762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0375" y="3067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D6A0A-597A-4ACE-8671-D3246EA5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80B9F-CFA6-4472-AEB9-E8708185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4 E4B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BFD8B-91F9-430C-A129-4816E200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Reasoning and 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17E3B-45A4-47F1-9273-6ABD991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PaddleOCR-VL 1.6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756FD-2E23-4874-99AE-75442D9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720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Printed scan specialist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7404D-D388-456D-BAEE-FD7CF27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olmOCR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65F17-6B5C-422E-AEF7-B9A067FF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Handwriting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711C8-8E1B-4490-935F-9FA1AC6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Nemotron 3 Nano 4B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C5B59-E940-4961-9C10-F490F53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006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Long-document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CFE3D-A4E7-4B68-B43C-9A07A2F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BAE31-8445-4D78-B2E7-7E76E278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150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Local embeddings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11307-5822-4F46-870C-A51CDC8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2479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9773c1157470a"/>
          <a:stretch xmlns:a="http://schemas.openxmlformats.org/drawingml/2006/main"/>
        </p:blipFill>
        <p:spPr>
          <a:xfrm xmlns:a="http://schemas.openxmlformats.org/drawingml/2006/main">
            <a:off x="9391650" y="4267200"/>
            <a:ext cx="1943100" cy="131445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3B234-21B1-4D6E-A2D2-721C153C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43575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Vision input</a:t>
            </a:r>
          </a:p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P&amp;ID-CDU4-1102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A2B39-5259-4BBC-B122-5B408CED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40F35-AF93-46A6-BA1C-FF6AEDD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759843-5B74-47B0-BFED-90E975B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03</a:t>
            </a:r>
          </a:p>
        </p:txBody>
      </p:sp>
    </p:spTree>
    <p:extLst>
      <p:ext uri="{BB962C8B-B14F-4D97-AF65-F5344CB8AC3E}">
        <p14:creationId xmlns:p14="http://schemas.microsoft.com/office/powerpoint/2010/main" val="1405699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72B156-93B1-4013-BEFE-BEE6DE0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03  /  FEASIBILITY AND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BFC59-508B-4761-AFF0-93A164A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on one workstation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5172-B945-4D57-9E15-259715C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prototype closes the core demo loop while keeping remaining deployment gates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B2B57-927E-4974-B723-83917347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PROTOTYPE PROOF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A897A-BB6A-48A6-9433-5CCF59B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8A83E-3436-4E00-A24D-BADBA446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5055F-1449-48EC-88BF-564267F4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Local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6BE7E-A61E-4FB9-BEF6-3981C1E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llama.cpp, Python, Node and pdftoppm are available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69864-E783-4C48-B054-F0A9C87F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12361-427E-4150-8ADD-E78816D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80488-9536-4D95-8C71-FB0FD41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8B7E0-5C05-46F3-9EBC-85BC9DAF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RTX 4060 Laptop GPU with 7,107 MiB usable and up to 2 resident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BADC-6AB1-430C-9B03-B5009646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1067A-BFB0-47B5-8ABC-260D765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B49DB-D55D-4DEC-861D-00400A47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Real exporters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D3249-5EAE-43FB-B3E8-9B439356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Word, Excel and PowerPoint packages are generated and reopened for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19F14-A393-4189-B042-E15C00BF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A6EF8-A51C-4115-A673-AB6413E6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8FD90-3F4B-44C6-B9F2-638F727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Demo corpus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876C7-A9B8-4AC7-8B31-57327F72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and open-dataset scans and P&amp;IDs keep the rehearsal non-proprietary.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5ACA1-FB6D-473A-9EA4-55138EF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8DAD3-CDFB-4C6D-9AF1-56DDB44C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contention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7C41BB-36DF-48E3-8353-251CD21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On-demand loading plus idle eviction keeps the memory budget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05F88-524A-4F70-98C2-5228D2E9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B82EC-E363-490F-9F95-352789D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Scanned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9ACB6-EE71-4AD8-8119-BE9D1F3A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527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 specialist first, then vision fallback when confidence or handwriting requires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10D56-1BFD-461F-8B1E-08BBFDB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26A38-45F1-479F-8BA7-D7C4064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Unknown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29B15-1596-41B8-BCCD-443D4F27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Preserve missing units, limits, owners and dates for human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34537-BC5F-4A0F-B1B7-7B42DAB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AA529-35FA-4A08-AF4E-2A748E9A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91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Sovereignty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F77F8-BC43-4205-8D6D-17D9BA3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910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Pair the application guard with independent OS-level packet capture.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F4284-8DD4-4FD9-9DB9-BEBC298C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248AE5-5D42-43C6-93F7-E333195D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489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49B2A-607E-43D9-B3D8-C7D09C88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Deployment gate: warm up the target models and rehearse the capture interval on the venue machine before making a final sovereignty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63ED5-A825-4B1D-BD78-16FC1ED8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521BB3-C60B-42DA-9958-56529A1D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109BAA-847A-481E-B084-C0603A6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04</a:t>
            </a:r>
          </a:p>
        </p:txBody>
      </p:sp>
    </p:spTree>
    <p:extLst>
      <p:ext uri="{BB962C8B-B14F-4D97-AF65-F5344CB8AC3E}">
        <p14:creationId xmlns:p14="http://schemas.microsoft.com/office/powerpoint/2010/main" val="622838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628C0C-6318-4B45-982C-AEC93A4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04  /  IMPACT AND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6C96B-D4A1-4DB4-8F58-D0BDFAE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AC2E7-0D00-4359-9E42-669FB51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Confidential work stays local while the workbench handles the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C63D2-63B1-4218-B427-2716BBB9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EXPECTED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045C6-2F4D-4836-BCA5-CA615EE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86E7-AC84-4135-9583-171D057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8D698-95E4-4C02-B115-5763087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 and inspectors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43041-F363-4EA1-9B63-271BCEEA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Extract findings from scans and P&amp;IDs while retaining the exact source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24E9B-A22F-4E53-9531-3005749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FB2AF-32B8-4DE0-949F-45C1697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B090F-E2C6-486A-9A0C-F32EF1B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70E9C-6306-437B-8F09-0BE431DD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Receive a draft note and action tracker with unresolved fields visible before a human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FEF9C-C0E0-4AA7-9805-BEC8AC74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47EBB-2813-4DD1-84B1-702D07A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CECC1-B651-4B67-92E8-E56AAC9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6F3E2-51D4-45A8-B3D1-A78DE766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Search manuals and SOPs locally with citations that point back to the retrieved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F8AC-D6B7-45BF-A28D-A374418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3A697-83EF-4C9F-B444-287808CC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18F9E-985E-4D89-9F38-085F0E22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and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88E92-CEC3-4F08-9784-F2F9A04B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Inspect model routing, tool calls, artifacts and network decisions in one workbench.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96507-8B02-42FE-9611-31F3EF7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40576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245de03154cd6"/>
          <a:srcRect xmlns:a="http://schemas.openxmlformats.org/drawingml/2006/main" l="0" t="20588" r="0" b="20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11455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14DE9-0049-4C4B-9E25-CEEFD96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Operator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3A269-CF3D-498F-A0E7-ED69CEA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value is a verified work package, not a chat reply.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28B67-46C1-41BE-BB13-A7D250BA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EC683-AD65-44BA-A4A3-7D2CDFA6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72C58-0437-48A4-8681-56532045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0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workstation-ready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459B1-5CB8-4993-BB1C-34060B0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F3E92-1520-4E67-8544-201535D4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E86A4-A916-4D22-A4EA-525F02F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976831-C094-4F60-AE80-D1D5EEF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0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artifact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AD2AF7-02D2-4559-9223-240E633B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catalog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3F5B8-24C9-4E27-A496-BE90C5D4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619D8-340F-4AA5-8A90-C2A753D5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5402C-D33C-48FC-AC7C-C76740F4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05</a:t>
            </a:r>
          </a:p>
        </p:txBody>
      </p:sp>
    </p:spTree>
    <p:extLst>
      <p:ext uri="{BB962C8B-B14F-4D97-AF65-F5344CB8AC3E}">
        <p14:creationId xmlns:p14="http://schemas.microsoft.com/office/powerpoint/2010/main" val="206225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7ADA77-00A3-42E0-A823-FC712DE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05  /  RESEARCH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BE7B-7889-4BC9-8407-7E38A2C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8A9D3-D204-4B95-A817-8904935D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deck follows the SIH idea-submission order and separates public sources from local product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93BBC-7A97-4B3D-832A-D377CBC7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FORMAT FOLLOWED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84B1D-E0AF-430F-9EC6-6A59AC65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087F8-3C55-47C4-8409-24F9F0A2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1FB22-1B09-409F-B996-B3B8050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Title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5151B-0575-484F-8955-F2526E0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915A8-7F97-453F-978C-7B9A181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F13E9-78A0-46F5-A7D5-A9131599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C46BB-6673-4624-B50E-FEB8AF3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30F78-7B48-48B1-825C-891234B8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9731D-A078-44B1-B363-5F4C5514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AD224-07B5-4C28-AA22-F900656C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28436-0878-4FA8-9A36-A52C2128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8B436-5B0F-4FFE-9964-B915177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D8E6C-3D2E-4A63-B89E-5B765CF0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A7F23-4FFF-424E-A0B3-794327FD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267F9-A9C5-4010-9309-F277F939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2D822-CB5D-44EF-A4B7-64E2B8ED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39295-DF58-4A28-805E-03D74BA8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B0BDA-FDFE-496A-BDCF-26255A0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A5C22-9933-4B13-A5D6-09CEBB11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55D2D-3576-49C0-BC6F-85ABD32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PUBLIC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EFB93-0A15-4D1A-BFA0-C8052D0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2026 problem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A2427-963B-4C35-8984-2254B27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sih.gov.in/sih2026PS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SIH26117 metadata and expected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5B860-9D24-4C49-9433-BDD7F7FA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idea presentation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7C50E-8E71-42B4-AA34-5BE429C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cmrit.ac.in/.../SIH2024_IDEA_Presentation_Format.pdf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Six-slide order and content pointers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C28BD-7247-4366-83A3-54C60854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LOCAL PRODUCT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CE22E-BC03-4823-BE50-DB2BB0D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README.md  •  MRPL_WORKFLOWS.md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Scoped Models, Readiness, Network, Artifacts and Audit panels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Synthetic inspection scans and open-dataset P&amp;ID samples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7D5DB-8FE0-4C9C-B3A3-6D9E1F39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53050"/>
            <a:ext cx="5143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423EC9-F636-4B82-BDBB-F274C6BC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Submission note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2819E-8CC1-4DBA-AA7D-61427A4A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[TEAM NAME] and [TEAM ID] before upload. Export to PDF if the portal requires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A3D901-8127-45CD-9ED2-B0BFE184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3DACE-1903-4028-A644-93C3011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3593E5-7F1F-46A7-97C3-AA06822D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06</a:t>
            </a:r>
          </a:p>
        </p:txBody>
      </p:sp>
    </p:spTree>
    <p:extLst>
      <p:ext uri="{BB962C8B-B14F-4D97-AF65-F5344CB8AC3E}">
        <p14:creationId xmlns:p14="http://schemas.microsoft.com/office/powerpoint/2010/main" val="1309848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2026-09-07T16:08:47.6420000Z</dcterms:created>
  <dcterms:modified xsi:type="dcterms:W3CDTF">2026-09-07T16:08:47.6420000Z</dcterms:modified>
</coreProperties>
</file>