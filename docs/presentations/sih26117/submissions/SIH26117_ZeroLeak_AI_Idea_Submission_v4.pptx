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72d29bd3d24506" /><Relationship Type="http://schemas.openxmlformats.org/officeDocument/2006/relationships/extended-properties" Target="/docProps/app.xml" Id="R15c04c36078e4c7b" /><Relationship Type="http://schemas.openxmlformats.org/officeDocument/2006/relationships/officeDocument" Target="/ppt/presentation.xml" Id="R9f8466aaf9b04e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3db7b38b944b54"/>
  </p:sldMasterIdLst>
  <p:notesMasterIdLst>
    <p:notesMasterId xmlns:r="http://schemas.openxmlformats.org/officeDocument/2006/relationships" r:id="R20cdc3f2674944ac"/>
  </p:notesMasterIdLst>
  <p:sldIdLst>
    <p:sldId xmlns:r="http://schemas.openxmlformats.org/officeDocument/2006/relationships" id="256" r:id="R2f18be81ca5d4e0c"/>
    <p:sldId xmlns:r="http://schemas.openxmlformats.org/officeDocument/2006/relationships" id="257" r:id="R562bfbe0ba744314"/>
    <p:sldId xmlns:r="http://schemas.openxmlformats.org/officeDocument/2006/relationships" id="258" r:id="Rac4f3b52bc434625"/>
    <p:sldId xmlns:r="http://schemas.openxmlformats.org/officeDocument/2006/relationships" id="259" r:id="R626cec91e1504953"/>
    <p:sldId xmlns:r="http://schemas.openxmlformats.org/officeDocument/2006/relationships" id="260" r:id="Rd5a3f0420ee24644"/>
    <p:sldId xmlns:r="http://schemas.openxmlformats.org/officeDocument/2006/relationships" id="261" r:id="Rc618f946031b49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c809809bfc4b76" /><Relationship Type="http://schemas.openxmlformats.org/officeDocument/2006/relationships/slideMaster" Target="/ppt/slideMasters/slideMaster1.xml" Id="R093db7b38b944b54" /><Relationship Type="http://schemas.openxmlformats.org/officeDocument/2006/relationships/notesMaster" Target="/ppt/notesMasters/notesMaster1.xml" Id="R20cdc3f2674944ac" /><Relationship Type="http://schemas.openxmlformats.org/officeDocument/2006/relationships/presProps" Target="/ppt/presProps.xml" Id="R0d9e9cebf8e44072" /><Relationship Type="http://schemas.openxmlformats.org/officeDocument/2006/relationships/tableStyles" Target="/ppt/tableStyles.xml" Id="Rf64d4b45dd7640f2" /><Relationship Type="http://schemas.openxmlformats.org/officeDocument/2006/relationships/slide" Target="/ppt/slides/slide1.xml" Id="R2f18be81ca5d4e0c" /><Relationship Type="http://schemas.openxmlformats.org/officeDocument/2006/relationships/slide" Target="/ppt/slides/slide2.xml" Id="R562bfbe0ba744314" /><Relationship Type="http://schemas.openxmlformats.org/officeDocument/2006/relationships/slide" Target="/ppt/slides/slide3.xml" Id="Rac4f3b52bc434625" /><Relationship Type="http://schemas.openxmlformats.org/officeDocument/2006/relationships/slide" Target="/ppt/slides/slide4.xml" Id="R626cec91e1504953" /><Relationship Type="http://schemas.openxmlformats.org/officeDocument/2006/relationships/slide" Target="/ppt/slides/slide5.xml" Id="Rd5a3f0420ee24644" /><Relationship Type="http://schemas.openxmlformats.org/officeDocument/2006/relationships/slide" Target="/ppt/slides/slide6.xml" Id="Rc618f946031b49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eabcc3fd1243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f0aaf1713b4ed2" /><Relationship Type="http://schemas.openxmlformats.org/officeDocument/2006/relationships/notesMaster" Target="/ppt/notesMasters/notesMaster1.xml" Id="Rb9a2621e550f46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ec23ee02e847d4" /><Relationship Type="http://schemas.openxmlformats.org/officeDocument/2006/relationships/notesMaster" Target="/ppt/notesMasters/notesMaster1.xml" Id="R63b9d43b07ea4c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c5531b154c4257" /><Relationship Type="http://schemas.openxmlformats.org/officeDocument/2006/relationships/notesMaster" Target="/ppt/notesMasters/notesMaster1.xml" Id="Rcf461b0bbd0b47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a7d68bab3b456b" /><Relationship Type="http://schemas.openxmlformats.org/officeDocument/2006/relationships/notesMaster" Target="/ppt/notesMasters/notesMaster1.xml" Id="R282d7b1ba20b43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f14b12fce7491d" /><Relationship Type="http://schemas.openxmlformats.org/officeDocument/2006/relationships/notesMaster" Target="/ppt/notesMasters/notesMaster1.xml" Id="R227483598cb74a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438661f9e94726" /><Relationship Type="http://schemas.openxmlformats.org/officeDocument/2006/relationships/notesMaster" Target="/ppt/notesMasters/notesMaster1.xml" Id="Rba3f20691ba349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metadata: SIH26117, S.No. 117, title, MRPL, category Software and theme Smart Automation.</a:t>
            </a:r>
          </a:p>
          <a:p xmlns:a="http://schemas.openxmlformats.org/drawingml/2006/main">
            <a:r>
              <a:t>Primary source: https://sih.gov.in/sih2026PS</a:t>
            </a:r>
          </a:p>
          <a:p xmlns:a="http://schemas.openxmlformats.org/drawingml/2006/main">
            <a:r>
              <a:t>Cross-check: https://github.com/jeevansai-hub/SIH-2026-/blob/main/ps_2026/SIH26117.md</a:t>
            </a:r>
          </a:p>
          <a:p xmlns:a="http://schemas.openxmlformats.org/drawingml/2006/main">
            <a:r>
              <a:t>Project source: C:/Users/harih/OneDrive/Documents/ocr/zero-leak-app/README.md</a:t>
            </a:r>
          </a:p>
          <a:p xmlns:a="http://schemas.openxmlformats.org/drawingml/2006/main">
            <a:r>
              <a:t>Replace [TEAM NAME] and [TEAM ID] with portal-registered values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Solution claims are based on the SIH26117 description, which calls for a self-hosted, air-gapped workbench that supports multiple open-weight models, local tools, multimodal inputs and real deliverables.</a:t>
            </a:r>
          </a:p>
          <a:p xmlns:a="http://schemas.openxmlformats.org/drawingml/2006/main">
            <a:r>
              <a:t>Product evidence: C:/Users/harih/OneDrive/Documents/ocr/zero-leak-app/README.md and MRPL_WORKFLOWS.md.</a:t>
            </a:r>
          </a:p>
          <a:p xmlns:a="http://schemas.openxmlformats.org/drawingml/2006/main">
            <a:r>
              <a:t>Visual asset: synthetic inspection note at C:/Users/harih/OneDrive/Documents/ocr/zero-leak-app/examples/mrpl-demo/turbine-cdu4/turbine-reports/scan-inspection-note.png.</a:t>
            </a:r>
          </a:p>
          <a:p xmlns:a="http://schemas.openxmlformats.org/drawingml/2006/main">
            <a:r>
              <a:t>The sample corpus is synthetic and contains no proprietary MRPL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approach reflects the local model registry and router implementation.</a:t>
            </a:r>
          </a:p>
          <a:p xmlns:a="http://schemas.openxmlformats.org/drawingml/2006/main">
            <a:r>
              <a:t>Source: C:/Users/harih/OneDrive/Documents/ocr/zero-leak-app/src/services/registry.ts</a:t>
            </a:r>
          </a:p>
          <a:p xmlns:a="http://schemas.openxmlformats.org/drawingml/2006/main">
            <a:r>
              <a:t>Source: C:/Users/harih/OneDrive/Documents/ocr/zero-leak-app/src-tauri/src/router.rs</a:t>
            </a:r>
          </a:p>
          <a:p xmlns:a="http://schemas.openxmlformats.org/drawingml/2006/main">
            <a:r>
              <a:t>The workbench binds the model router to 127.0.0.1 and routes OCR, vision, embeddings, reasoning and coding to different local model roles.</a:t>
            </a:r>
          </a:p>
          <a:p xmlns:a="http://schemas.openxmlformats.org/drawingml/2006/main">
            <a:r>
              <a:t>Visual asset: synthetic P&amp;ID at C:/Users/harih/OneDrive/Documents/ocr/zero-leak-app/examples/mrpl-demo/turbine-cdu4/turbine-reports/PID-CDU4-1102.png.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Readiness proof points come from the live local Workflows → Readiness screen and the project workflow guide.</a:t>
            </a:r>
          </a:p>
          <a:p xmlns:a="http://schemas.openxmlformats.org/drawingml/2006/main">
            <a:r>
              <a:t>Sources: C:/Users/harih/OneDrive/Documents/ocr/zero-leak-app/MRPL_WORKFLOWS.md and C:/Users/harih/OneDrive/Documents/ocr/zero-leak-app/.uifix/readiness-result.json.</a:t>
            </a:r>
          </a:p>
          <a:p xmlns:a="http://schemas.openxmlformats.org/drawingml/2006/main">
            <a:r>
              <a:t>The GPU number is a development-machine measurement from the local app UI, not a universal deployment requirement.</a:t>
            </a:r>
          </a:p>
          <a:p xmlns:a="http://schemas.openxmlformats.org/drawingml/2006/main">
            <a:r>
              <a:t>The project documentation explicitly says application network decisions are not a packet capture, so the deck preserves the independent OS capture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impact is derived from the SIH26117 expected solution and from the implemented workflow surfaces.</a:t>
            </a:r>
          </a:p>
          <a:p xmlns:a="http://schemas.openxmlformats.org/drawingml/2006/main">
            <a:r>
              <a:t>Product sources: C:/Users/harih/OneDrive/Documents/ocr/zero-leak-app/README.md, MRPL_WORKFLOWS.md and the live Artifacts, Audit and Knowledge panels.</a:t>
            </a:r>
          </a:p>
          <a:p xmlns:a="http://schemas.openxmlformats.org/drawingml/2006/main">
            <a:r>
              <a:t>The counts shown are prototype catalog facts: five named model roles in the registry and seven supported artifact kinds in the local types and artifact implementation.</a:t>
            </a:r>
          </a:p>
          <a:p xmlns:a="http://schemas.openxmlformats.org/drawingml/2006/main">
            <a:r>
              <a:t>Visual asset: synthetic gauge photograph at C:/Users/harih/OneDrive/Documents/ocr/zero-leak-app/examples/mrpl-demo/turbine-cdu4/turbine-reports/gauge-photo.jpg.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sources used in the deck:</a:t>
            </a:r>
          </a:p>
          <a:p xmlns:a="http://schemas.openxmlformats.org/drawingml/2006/main">
            <a:r>
              <a:t>1) https://sih.gov.in/sih2026PS</a:t>
            </a:r>
          </a:p>
          <a:p xmlns:a="http://schemas.openxmlformats.org/drawingml/2006/main">
            <a:r>
              <a:t>2) https://github.com/jeevansai-hub/SIH-2026-/blob/main/ps_2026/SIH26117.md</a:t>
            </a:r>
          </a:p>
          <a:p xmlns:a="http://schemas.openxmlformats.org/drawingml/2006/main">
            <a:r>
              <a:t>3) https://www.cmrit.ac.in/wp-content/uploads/2024/10/SIH2024_IDEA_Presentation_Format.pdf</a:t>
            </a:r>
          </a:p>
          <a:p xmlns:a="http://schemas.openxmlformats.org/drawingml/2006/main">
            <a:r>
              <a:t>Local sources used in the deck:</a:t>
            </a:r>
          </a:p>
          <a:p xmlns:a="http://schemas.openxmlformats.org/drawingml/2006/main">
            <a:r>
              <a:t>C:/Users/harih/OneDrive/Documents/ocr/zero-leak-app/README.md</a:t>
            </a:r>
          </a:p>
          <a:p xmlns:a="http://schemas.openxmlformats.org/drawingml/2006/main">
            <a:r>
              <a:t>C:/Users/harih/OneDrive/Documents/ocr/zero-leak-app/MRPL_WORKFLOWS.md</a:t>
            </a:r>
          </a:p>
          <a:p xmlns:a="http://schemas.openxmlformats.org/drawingml/2006/main">
            <a:r>
              <a:t>C:/Users/harih/OneDrive/Documents/ocr/zero-leak-app/src/services/registry.ts</a:t>
            </a:r>
          </a:p>
          <a:p xmlns:a="http://schemas.openxmlformats.org/drawingml/2006/main">
            <a:r>
              <a:t>C:/Users/harih/OneDrive/Documents/ocr/zero-leak-app/examples/mrpl-demo/README.md</a:t>
            </a:r>
          </a:p>
          <a:p xmlns:a="http://schemas.openxmlformats.org/drawingml/2006/main">
            <a:r>
              <a:t>The local demo corpus is synthetic/open-dataset material, not proprietary industrial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bbecfb1024d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aeb71edada4c10" /><Relationship Type="http://schemas.openxmlformats.org/officeDocument/2006/relationships/slideLayout" Target="/ppt/slideLayouts/slideLayout1.xml" Id="R78f148b8aeda4b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f148b8aeda4b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4b925d63b491f" /><Relationship Type="http://schemas.openxmlformats.org/officeDocument/2006/relationships/notesSlide" Target="/ppt/notesSlides/notesSlide1.xml" Id="Re3a1a8f0ebb94d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f31b54fa2447a" /><Relationship Type="http://schemas.openxmlformats.org/officeDocument/2006/relationships/image" Target="/ppt/media/image.png" Id="R007cb4ffdedb4bd0" /><Relationship Type="http://schemas.openxmlformats.org/officeDocument/2006/relationships/notesSlide" Target="/ppt/notesSlides/notesSlide2.xml" Id="Rd044a8877e1d49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7552b1a8c42ee" /><Relationship Type="http://schemas.openxmlformats.org/officeDocument/2006/relationships/image" Target="/ppt/media/image2.png" Id="R3f45042396004f8a" /><Relationship Type="http://schemas.openxmlformats.org/officeDocument/2006/relationships/notesSlide" Target="/ppt/notesSlides/notesSlide3.xml" Id="R4aa260f0d39040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2e299de9141c0" /><Relationship Type="http://schemas.openxmlformats.org/officeDocument/2006/relationships/notesSlide" Target="/ppt/notesSlides/notesSlide4.xml" Id="Ra2d73419150f4b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5c71e7f8a4e3f" /><Relationship Type="http://schemas.openxmlformats.org/officeDocument/2006/relationships/image" Target="/ppt/media/image.jpeg" Id="R23da043c88fd4dbb" /><Relationship Type="http://schemas.openxmlformats.org/officeDocument/2006/relationships/notesSlide" Target="/ppt/notesSlides/notesSlide5.xml" Id="Rb9854d8bd27048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14a3661484e9c" /><Relationship Type="http://schemas.openxmlformats.org/officeDocument/2006/relationships/notesSlide" Target="/ppt/notesSlides/notesSlide6.xml" Id="R271b45db44194a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7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20B0C-FD36-401D-996A-432CD53E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0AC72-784F-41B1-9085-4C1FB997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E3E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9E3E7"/>
                </a:solidFill>
                <a:latin typeface="Arial"/>
                <a:ea typeface="Arial"/>
                <a:cs typeface="Arial"/>
              </a:rPr>
              <a:t>SMART INDIA HACKATHON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51772-443C-46B7-A44F-022F896D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"/>
            <a:ext cx="28956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600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9600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AAD0E-4D47-497D-8BC8-774855C4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33600"/>
            <a:ext cx="228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SOVEREIGN</a:t>
            </a:r>
          </a:p>
          <a:p xmlns:a="http://schemas.openxmlformats.org/drawingml/2006/main">
            <a:pPr algn="r">
              <a:defRPr sz="1350" b="1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ON-PREMISE</a:t>
            </a:r>
          </a:p>
          <a:p xmlns:a="http://schemas.openxmlformats.org/drawingml/2006/main">
            <a:pPr algn="r">
              <a:defRPr sz="1350" b="1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AGENTIC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F78B7-BD27-469A-981A-C12F0144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ZeroLeak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FECF1-0D8B-4942-9AA0-F67A8790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D0D9DD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D0D9DD"/>
                </a:solidFill>
                <a:latin typeface="Arial"/>
                <a:ea typeface="Arial"/>
                <a:cs typeface="Arial"/>
              </a:rPr>
              <a:t>A local workbench for confidential industrial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7CF69-E640-4495-8383-920102F3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5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2FB8E-86B5-4608-82DD-1AB91F7C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F7383-9339-4A88-91DA-34C23C6B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29075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SIH26117  |  Sovereign On-Premise Agentic AI Workbench using Open-Weight Multimodal LLMs for Confidential Industrial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759C5-5A43-4A91-B706-C6948F3F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9C7C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9C7CE"/>
                </a:solidFill>
                <a:latin typeface="Arial"/>
                <a:ea typeface="Arial"/>
                <a:cs typeface="Arial"/>
              </a:rPr>
              <a:t>Mangalore Refinery and Petrochemicals Limited (MRPL)  •  Smart Automation  •  Software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AFB7E-3A7A-4358-BA78-11FAE6E8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022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Team: [TEAM NAME]   •   Team ID: [TEAM ID]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5D8D3-6B80-4CF0-94AF-693EAD17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4A9B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94A9B5"/>
                </a:solidFill>
                <a:latin typeface="Arial"/>
                <a:ea typeface="Arial"/>
                <a:cs typeface="Arial"/>
              </a:rPr>
              <a:t>Idea submission deck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5077E-262A-4DA6-9FFE-2C80A396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9531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94A9B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94A9B5"/>
                </a:solidFill>
                <a:latin typeface="Arial"/>
                <a:ea typeface="Arial"/>
                <a:cs typeface="Arial"/>
              </a:rPr>
              <a:t>Prototype evidence from a local ZeroLeak AI workstation</a:t>
            </a:r>
          </a:p>
        </p:txBody>
      </p:sp>
    </p:spTree>
    <p:extLst>
      <p:ext uri="{BB962C8B-B14F-4D97-AF65-F5344CB8AC3E}">
        <p14:creationId xmlns:p14="http://schemas.microsoft.com/office/powerpoint/2010/main" val="8768462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CF641F-5942-4AC7-BFA6-966035F3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01  /  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AAF8B-401A-4F90-8AC0-B13E1F9A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A private agent for work that cannot leave the 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5BEF6-2AFD-41E3-AE43-D35EBD34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The workbench keeps documents local while still acting like a useful task partner.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B822F-5720-498E-874F-61082DD9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E97C4-C27B-486A-AE60-FAF442FC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2882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60F69-1CC7-4FE6-960C-B47A578E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Self-hosted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0FB28-74D6-4863-993F-BCEA3603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Runs on the organization’s own workstation or GPU server. Public cloud assistants never sit in the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A5661-4989-4352-B8AA-01C3127D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6227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080F4-4ED4-4E0D-85F4-814F20CA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20807D-239C-4255-8E78-D9CC0001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Task-aware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03939-72CD-4088-8817-832D3D5A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Routes coding, long-document, OCR and vision work to the right local model on demand.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5B381-62CE-4017-A9AA-E0468A06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9FB3C-5867-49F5-ACCD-DA77FCBC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FA65B-5430-4817-B0F3-8321E1EF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Actionable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1411C-70D9-4C3F-8BA0-9BE2DAE0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624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Reads files, searches local knowledge, runs sandboxed tools and creates reviewable deliverables.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16BA0-6DE1-4A4C-9BF9-173CC5FF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52387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727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998272-AA4B-425B-ACF1-807F25CB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457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output is a work package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4B0B0F-E751-44C3-8673-70AAAB4D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Source citations  +  approval note  +  action tracker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D0EB77-8309-45BF-85CC-BF42AEEE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52625"/>
            <a:ext cx="4876800" cy="3990975"/>
          </a:xfrm>
          <a:prstGeom xmlns:a="http://schemas.openxmlformats.org/drawingml/2006/main" prst="roundRect">
            <a:avLst>
              <a:gd name="adj" fmla="val 3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cb4ffdedb4bd0"/>
          <a:stretch xmlns:a="http://schemas.openxmlformats.org/drawingml/2006/main"/>
        </p:blipFill>
        <p:spPr>
          <a:xfrm xmlns:a="http://schemas.openxmlformats.org/drawingml/2006/main">
            <a:off x="7954515" y="2190750"/>
            <a:ext cx="2188469" cy="3095625"/>
          </a:xfrm>
          <a:prstGeom xmlns:a="http://schemas.openxmlformats.org/drawingml/2006/main" prst="roundRect">
            <a:avLst>
              <a:gd name="adj" fmla="val 3692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6B9542-A870-4991-B1B2-752889DA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476875"/>
            <a:ext cx="426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074F4B-53AA-42CF-B30B-9DA36573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543550"/>
            <a:ext cx="396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E8B8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8B84"/>
                </a:solidFill>
                <a:latin typeface="Arial"/>
                <a:ea typeface="Arial"/>
                <a:cs typeface="Arial"/>
              </a:rPr>
              <a:t>IMAGE-ONLY PAGE  •  OCR + EVIDENCE EXTRACTION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9705C8-A13E-4377-A4E9-A083CEA0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7B8053-74CE-4E47-8C98-6F8BA4D6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SIH 2026  •  SIH26117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BA9F77-5638-4B1A-99AC-3452DD89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ZeroLeak AI  •  02</a:t>
            </a:r>
          </a:p>
        </p:txBody>
      </p:sp>
    </p:spTree>
    <p:extLst>
      <p:ext uri="{BB962C8B-B14F-4D97-AF65-F5344CB8AC3E}">
        <p14:creationId xmlns:p14="http://schemas.microsoft.com/office/powerpoint/2010/main" val="15002240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27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0A39FD-51F1-480B-9050-DD82C701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02  /  TECHNICAL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38271-FA88-475E-8953-4C457F08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models, one controlled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F6835-3A6D-48B3-94D0-AD0C1FF9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Route the task, ground it in local evidence, act through tools and verify the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10974-8FE7-405D-893A-638ECEC8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714500" cy="19050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43B4D"/>
          </a:solidFill>
          <a:ln xmlns:a="http://schemas.openxmlformats.org/drawingml/2006/main" w="9525">
            <a:solidFill>
              <a:srgbClr val="4A637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F21DA-2759-4884-90F7-8F187FD0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F4574-4CF7-47D6-A6B4-3C31976E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33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Scanned PDFs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P&amp;IDs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and spreadsheets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SOPs and manuals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3C778-A18F-4153-A839-FCF96C7B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62150"/>
            <a:ext cx="1809750" cy="19050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87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AEFDC-6D6B-4F95-9FC0-7BC808B1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717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ROUTER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658C5-CC54-4331-81A7-36807746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14600"/>
            <a:ext cx="1381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Task-aware</a:t>
            </a:r>
          </a:p>
          <a:p xmlns:a="http://schemas.openxmlformats.org/drawingml/2006/main">
            <a:pPr algn="ctr">
              <a:defRPr sz="1725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model</a:t>
            </a:r>
          </a:p>
          <a:p xmlns:a="http://schemas.openxmlformats.org/drawingml/2006/main">
            <a:pPr algn="ctr">
              <a:defRPr sz="1725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selection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CD4F1-A3CD-49F9-A476-DB692D9F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3375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127.0.0.1</a:t>
            </a:r>
          </a:p>
          <a:p xmlns:a="http://schemas.openxmlformats.org/drawingml/2006/main">
            <a:pPr algn="ctr">
              <a:defRPr sz="1200" b="0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load on demand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144E7-7339-4947-93A8-AA7C7565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14550"/>
            <a:ext cx="1762125" cy="1905000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243B4D"/>
          </a:solidFill>
          <a:ln xmlns:a="http://schemas.openxmlformats.org/drawingml/2006/main" w="9525">
            <a:solidFill>
              <a:srgbClr val="4A63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4D545-FC85-4313-98AB-3E2D746F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050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LOCAL TOOLS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285A9-64AE-452F-BFFB-950B9084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19375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OCR + vision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Knowledge + citations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Sandbox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 generators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250F3-403A-4BA5-B77E-58E5ADA6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14550"/>
            <a:ext cx="1524000" cy="1905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E8B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CDC85-0C89-4E9B-BEC2-1DA10B5A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050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3C3617-C316-4EE5-BB2B-31C689B0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19375"/>
            <a:ext cx="1162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DOCX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XLSX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PPTX / PDF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Working code</a:t>
            </a:r>
          </a:p>
        </p:txBody>
      </p:sp>
      <p:cxnSp>
        <p:nvCxnSpPr>
          <p:cNvPr id="53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324100" y="2914650"/>
            <a:ext cx="43815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A48"/>
            </a:solidFill>
            <a:prstDash val="solid"/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572000" y="2914650"/>
            <a:ext cx="47625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A48"/>
            </a:solidFill>
            <a:prstDash val="solid"/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810375" y="30670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A48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2271F-5D55-4507-9E19-2CD7E69E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MODEL ROLES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1F0C39-09A6-449E-BFA1-04A39BDC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Gemma 4 E4B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BA197B-107F-4406-B63F-C93B3494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5770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Reasoning and vision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86F37D-014F-4C6B-8EA3-FB6B98C9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PaddleOCR-VL 1.6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81B76E-2056-475E-B920-008E4612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72025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Printed scan specialist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9B3EF6-0982-462E-98E2-00F758BF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olmOCR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DE980A-6C37-4F85-BA3D-240E1544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86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Handwriting fallback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D9EF22-C404-4B56-B01C-A9B1B506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Nemotron 3 Nano 4B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64FA90-7D68-4294-9DD1-E10BAF05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00675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Long-document context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ACF78F-FA56-442A-8954-D4E11673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BGE-M3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FFFB4E-C5D0-4837-87A2-F539B5EA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71500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Local embeddings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511936-500D-4C3E-95FB-711D5CC5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38600"/>
            <a:ext cx="2247900" cy="19621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5042396004f8a"/>
          <a:stretch xmlns:a="http://schemas.openxmlformats.org/drawingml/2006/main"/>
        </p:blipFill>
        <p:spPr>
          <a:xfrm xmlns:a="http://schemas.openxmlformats.org/drawingml/2006/main">
            <a:off x="9391650" y="4267200"/>
            <a:ext cx="1943100" cy="1314450"/>
          </a:xfrm>
          <a:prstGeom xmlns:a="http://schemas.openxmlformats.org/drawingml/2006/main" prst="roundRect">
            <a:avLst>
              <a:gd name="adj" fmla="val 7792"/>
            </a:avLst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0666FA-EE0A-4854-B9B9-77B51783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43575"/>
            <a:ext cx="194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Vision input</a:t>
            </a:r>
          </a:p>
          <a:p xmlns:a="http://schemas.openxmlformats.org/drawingml/2006/main">
            <a:pPr algn="ctr">
              <a:defRPr sz="1125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P&amp;ID-CDU4-1102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FFF4F1-299E-4FA8-904F-4A80E7E0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07E454-7451-479E-9F99-FC6D6B0A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FC0C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FC0CA"/>
                </a:solidFill>
                <a:latin typeface="Arial"/>
                <a:ea typeface="Arial"/>
                <a:cs typeface="Arial"/>
              </a:rPr>
              <a:t>SIH 2026  •  SIH26117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E59EB8-8159-4CBE-8D65-94F7A485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AFC0C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FC0CA"/>
                </a:solidFill>
                <a:latin typeface="Arial"/>
                <a:ea typeface="Arial"/>
                <a:cs typeface="Arial"/>
              </a:rPr>
              <a:t>ZeroLeak AI  •  03</a:t>
            </a:r>
          </a:p>
        </p:txBody>
      </p:sp>
    </p:spTree>
    <p:extLst>
      <p:ext uri="{BB962C8B-B14F-4D97-AF65-F5344CB8AC3E}">
        <p14:creationId xmlns:p14="http://schemas.microsoft.com/office/powerpoint/2010/main" val="8402177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22AF5C-7725-49F1-851F-E748C906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03  /  FEASIBILITY AND VIABILITY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CFAE2-1200-4296-9338-ADF18600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Feasibility on one workstation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414EF-8BBB-43FC-AB4A-50551CBA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The prototype closes the core demo loop while keeping remaining deployment gates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5DED0-2028-4CED-B892-6ACE60C6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PROTOTYPE PROOF POINTS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1138F-73BB-400E-8523-A69ECA43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71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1E8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C1AE2-C3F7-400B-AEDD-CD92AB16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71725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D5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BB620-A033-4F41-A518-8786ACF3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33625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Local 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8D078-699D-4ED9-8303-4EA80C9D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llama.cpp, Python, Node and pdftoppm are available locally.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5D73C-6E03-46DA-B91B-8014B6E2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90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1E8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A18A8-682F-4764-92E3-78881A35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90875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D5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6D7E5-2CF2-4CA4-BE3F-58C49427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GPU 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A10F9-5585-4EAA-B3F1-39508A6D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RTX 4060 Laptop GPU with 7,107 MiB usable and up to 2 resident models.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C82DC-081A-4B9D-A10A-C4C6ED6B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1E8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0161C-2A1E-48C7-B908-8045883E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D5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477B3C-68AA-41B6-8294-EB07163C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71925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Real exporters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F3D145-4B8E-47C2-8C29-4BCA6E44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Word, Excel and PowerPoint packages are generated and reopened for checks.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723B0D-1D32-4477-8C1E-DE0C299D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29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1E8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746421-D3E1-40F2-8D6F-8E1A3F10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29175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D5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3B46E6-C04A-45DD-BD54-EFFE48B4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91075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Demo corpus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314107-1212-4B0A-96F8-182DE1A9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292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Synthetic and open-dataset scans and P&amp;IDs keep the rehearsal non-proprietary.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53375C-322E-4D71-8A0D-11DC5710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RISKS AND MITIGATIONS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1A2CE9-721B-47F7-9B12-17614EE4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GPU contention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8385AF-0B69-49B4-A150-A3695AF0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33625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On-demand loading plus idle eviction keeps the memory budget visible.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9EB36D-B352-4708-AA74-FBF6B71B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1C6D3B-41EF-4838-A5FE-B5CF2025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5277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Scanned pages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FCC65A-E216-4543-A668-61470428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52775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OCR specialist first, then vision fallback when confidence or handwriting requires it.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296361-3691-4F5A-855F-BBB801CC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0450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805505-2280-4FE3-B67D-C917D40B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7192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Unknown fields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E5296D-28AA-4C71-8EF2-81D749FB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71925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Preserve missing units, limits, owners and dates for human review.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3C3C42-7483-49EB-AEA5-6AC0EC33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EF5851-E12F-4400-A74D-219CE004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9107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Sovereignty proof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F2BB86-4621-4B74-86CC-77F3D1B0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91075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Pair the application guard with independent OS-level packet capture.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A6D30C-D179-4450-B103-56A47F7C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38750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C225D8-CA15-4485-B090-9FBB53E9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848975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9F874B-F623-4E56-B903-92784A5B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435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Deployment gate: warm up the target models and rehearse the capture interval on the venue machine before making a final sovereignty claim.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5CD4DC-D824-40CB-A1A2-8F032677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B655F4-5C90-4812-847D-ABDC6017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SIH 2026  •  SIH26117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4C4FE0-016A-41CA-AC39-18616312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ZeroLeak AI  •  04</a:t>
            </a:r>
          </a:p>
        </p:txBody>
      </p:sp>
    </p:spTree>
    <p:extLst>
      <p:ext uri="{BB962C8B-B14F-4D97-AF65-F5344CB8AC3E}">
        <p14:creationId xmlns:p14="http://schemas.microsoft.com/office/powerpoint/2010/main" val="13940094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27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1E59B3-629C-4279-A3EC-3BF51B47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04  /  IMPACT AND BENEFITS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3A55D-2332-4DC6-834C-E9F2FB2D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Impact and benefits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D7A49-74E2-4AAF-A1B9-89B5D935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Confidential work stays local while the workbench handles the task.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4073C-601F-41DF-B5A7-0C0199E7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EXPECTED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8E077-E6A8-4961-90D2-F030A73C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02ADA-CEC4-41C7-A6D9-560FDA14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EB72D-010C-4A72-82A6-7E821463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Engineers and inspectors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7A505-59F2-4DB9-BC4A-F33A8415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4792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Extract findings from scans and P&amp;IDs while retaining the exact source page.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267A0-FE14-4B0D-A684-8D02C329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4D720-61B8-4925-B6E2-52575217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146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04C92-1810-4463-ACCB-70D591CC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034E9-F722-4180-9640-2216291C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2422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Receive a draft note and action tracker with unresolved fields visible before a human decision.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BA5A0-76E1-43B5-9977-DAC87C56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624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4353F-4175-4254-925D-2E2E29EE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909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88CE38-41D7-4079-81A2-371E0846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Knowledge teams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384D90-BDA0-4A66-8A01-DFB68BF9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0052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Search manuals and SOPs locally with citations that point back to the retrieved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63F83-9D4F-4B5A-B07B-96F3D93D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94176-7E5C-4661-9060-AC65C900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672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A697B6-0967-4226-BB34-EEADE594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IT and security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F8D2FC-6680-40B9-B541-F70B59DA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7682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Inspect model routing, tool calls, artifacts and network decisions in one workbench.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FEB793-19B9-469A-832B-EE27FB71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66900"/>
            <a:ext cx="4057650" cy="32004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a043c88fd4dbb"/>
          <a:srcRect xmlns:a="http://schemas.openxmlformats.org/drawingml/2006/main" l="0" t="20588" r="0" b="205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150" y="2114550"/>
            <a:ext cx="3562350" cy="20955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9C5AF2-6E85-4FDA-9A3E-35B3038B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624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Operator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8B71C5-F796-47B7-A84F-622FB32A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101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The value is a verified work package, not a chat reply.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F57600-61B4-4160-A5B1-041ABE5E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993AE2-75BA-46DF-B12B-57863EAB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19F7FF-CB1F-42AD-8BCA-314228A0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102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workstation-ready demo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99AA22-9038-4B30-B4D9-9F4A7A91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626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05B5B4-643B-4BB5-AD27-E76E715B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0102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model roles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54CB02-5CD3-4663-9470-EF6A49E7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9626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6E8100-E1BB-471C-8CBA-A7D82C09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0102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artifact types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EBF052-2014-4091-BE66-341EF473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19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4A9B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4A9B5"/>
                </a:solidFill>
                <a:latin typeface="Arial"/>
                <a:ea typeface="Arial"/>
                <a:cs typeface="Arial"/>
              </a:rPr>
              <a:t>prototype catalog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64B47A-8C78-4489-8B54-9167C1F2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46E82F-B64A-4B4E-964A-54D5EF6E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FC0C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FC0CA"/>
                </a:solidFill>
                <a:latin typeface="Arial"/>
                <a:ea typeface="Arial"/>
                <a:cs typeface="Arial"/>
              </a:rPr>
              <a:t>SIH 2026  •  SIH26117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D7FDDA-57F5-45E5-AC3C-C51351B6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AFC0C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FC0CA"/>
                </a:solidFill>
                <a:latin typeface="Arial"/>
                <a:ea typeface="Arial"/>
                <a:cs typeface="Arial"/>
              </a:rPr>
              <a:t>ZeroLeak AI  •  05</a:t>
            </a:r>
          </a:p>
        </p:txBody>
      </p:sp>
    </p:spTree>
    <p:extLst>
      <p:ext uri="{BB962C8B-B14F-4D97-AF65-F5344CB8AC3E}">
        <p14:creationId xmlns:p14="http://schemas.microsoft.com/office/powerpoint/2010/main" val="219099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84A58D-3E57-423C-BC8D-8D324BCC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05  /  RESEARCH AND 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DDF51-A977-45F9-B8A4-6DEE044F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Research and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4BE14-FD5C-46D7-9052-DB59455C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The deck follows the SIH idea-submission order and separates public sources from local product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E8FD1-BF9D-4950-B13A-3585890E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FORMAT FOLLOWED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76F34-F73E-4CE6-BDF5-8B214E83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A3F14-DC76-4C6B-95A7-445C4FF7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57425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5854C-FF8E-4BEF-828E-AA165D5E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Title page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9A600-E90C-445C-8C21-175B457D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765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B4F82-220D-48E0-860D-2A446C4E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D53E0-0E22-43DB-B104-2DF561DE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574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88C28-6FDE-4971-AFCB-60D3596D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BAB54A-2FE7-4DD8-A7AF-B5D8BD3B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52775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2399E-509A-418B-A80D-00C5F163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Technical approach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F5168-E552-4B7F-87AF-CF4476A8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98351F-E73B-45B4-B7A3-B04B3581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8938FA-3F48-4B55-BE69-AEDC0631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528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Feasibility and viability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6D8F15-50DD-4510-AD00-649A9334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E29BA6-8DDA-44A6-ACDC-8B4B3A93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ED2415-AC67-451E-9532-3C98E103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Impact and benefits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DDF292-F590-4469-B15E-66FD264E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13C669-7E07-4ED4-84D5-7A294AC6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F2AF60-9400-49B8-8814-88644E16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48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Research and references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361417-D58E-41E1-B54E-DBC8E095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85950"/>
            <a:ext cx="95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4A1086-B866-4E2B-8520-D0AACD36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66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PUBLIC SOURCES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4EC0B8-8563-48FD-934A-B0A96C8B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09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SIH 2026 problem statement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BDD14A-DD65-4F1A-A920-BCFDF5F6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574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sih.gov.in/sih2026PS</a:t>
            </a:r>
          </a:p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SIH26117 metadata and expected solution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CCA675-1D47-43D5-8CA1-7F549626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670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SIH idea presentation format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BFF943-52B1-4BD4-8D59-4CFF5F33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147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cmrit.ac.in/.../SIH2024_IDEA_Presentation_Format.pdf</a:t>
            </a:r>
          </a:p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Six-slide order and content pointers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27A6F8-7A68-4433-9FB3-60E73808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243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LOCAL PRODUCT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A7F703-96F4-4004-92DC-CC2AC493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672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README.md  •  MRPL_WORKFLOWS.md</a:t>
            </a:r>
          </a:p>
          <a:p xmlns:a="http://schemas.openxmlformats.org/drawingml/2006/main">
            <a:pPr algn="l">
              <a:defRPr sz="1275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Scoped Models, Readiness, Network, Artifacts and Audit panels</a:t>
            </a:r>
          </a:p>
          <a:p xmlns:a="http://schemas.openxmlformats.org/drawingml/2006/main">
            <a:pPr algn="l">
              <a:defRPr sz="1275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Synthetic inspection scans and open-dataset P&amp;ID samples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41C6CC-6AC9-4B3D-9B9A-CA50C8BA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353050"/>
            <a:ext cx="51435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27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C9EC5A-3675-49E0-B659-87B24475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4959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Submission note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B3FED5-19B7-479E-AC01-951260AF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95925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Replace [TEAM NAME] and [TEAM ID] before upload. Export to PDF if the portal requires it.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CD4EC3-8C33-43C6-A975-1F96ACDD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E0279A-116A-43B2-B536-CA964379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SIH 2026  •  SIH26117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9109DA-DEE3-4FB6-B883-AC383426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ZeroLeak AI  •  06</a:t>
            </a:r>
          </a:p>
        </p:txBody>
      </p:sp>
    </p:spTree>
    <p:extLst>
      <p:ext uri="{BB962C8B-B14F-4D97-AF65-F5344CB8AC3E}">
        <p14:creationId xmlns:p14="http://schemas.microsoft.com/office/powerpoint/2010/main" val="21181067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2026-09-07T16:09:48.1760000Z</dcterms:created>
  <dcterms:modified xsi:type="dcterms:W3CDTF">2026-09-07T16:09:48.1760000Z</dcterms:modified>
</coreProperties>
</file>